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294" r:id="rId3"/>
    <p:sldId id="295" r:id="rId4"/>
    <p:sldId id="284" r:id="rId5"/>
  </p:sldIdLst>
  <p:sldSz cx="9144000" cy="5143500" type="screen16x9"/>
  <p:notesSz cx="6858000" cy="9144000"/>
  <p:embeddedFontLst>
    <p:embeddedFont>
      <p:font typeface="나눔고딕 ExtraBold" panose="020B0600000101010101" charset="-127"/>
      <p:bold r:id="rId7"/>
    </p:embeddedFont>
    <p:embeddedFont>
      <p:font typeface="나눔스퀘어라운드 ExtraBold" panose="020B0600000101010101" charset="-127"/>
      <p:bold r:id="rId8"/>
    </p:embeddedFont>
    <p:embeddedFont>
      <p:font typeface="Encode Sans Semi Condensed Light" panose="020B0600000101010101" charset="0"/>
      <p:regular r:id="rId9"/>
      <p:bold r:id="rId10"/>
    </p:embeddedFont>
    <p:embeddedFont>
      <p:font typeface="Encode Sans Semi Condensed SemiBold" panose="00000706000000000000" charset="0"/>
      <p:regular r:id="rId11"/>
      <p:bold r:id="rId12"/>
    </p:embeddedFont>
    <p:embeddedFont>
      <p:font typeface="나눔바른고딕" panose="020B0603020101020101" pitchFamily="50" charset="-127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99FF"/>
    <a:srgbClr val="99CCFF"/>
    <a:srgbClr val="6DB33F"/>
    <a:srgbClr val="90A5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4420" autoAdjust="0"/>
  </p:normalViewPr>
  <p:slideViewPr>
    <p:cSldViewPr snapToGrid="0">
      <p:cViewPr varScale="1">
        <p:scale>
          <a:sx n="110" d="100"/>
          <a:sy n="110" d="100"/>
        </p:scale>
        <p:origin x="164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880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893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Blocking</a:t>
            </a:r>
            <a:r>
              <a:rPr lang="ko-KR" altLang="en-US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I/O</a:t>
            </a:r>
            <a:r>
              <a:rPr lang="ko-KR" altLang="en-US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방식과 </a:t>
            </a:r>
            <a:endParaRPr lang="en-US" altLang="ko-KR" sz="4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en-US" altLang="ko-KR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Non-Blocking I/O</a:t>
            </a:r>
            <a:r>
              <a:rPr lang="ko-KR" altLang="en-US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방식 이해하기</a:t>
            </a:r>
            <a:r>
              <a:rPr lang="en-US" altLang="ko-KR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(2)</a:t>
            </a:r>
            <a:r>
              <a:rPr lang="ko-KR" altLang="en-US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260133" y="2275829"/>
            <a:ext cx="3699617" cy="46595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⊳"/>
            </a:pP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Blocking I/O 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방식이다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1" name="Google Shape;167;p16">
            <a:extLst>
              <a:ext uri="{FF2B5EF4-FFF2-40B4-BE49-F238E27FC236}">
                <a16:creationId xmlns:a16="http://schemas.microsoft.com/office/drawing/2014/main" id="{A764D207-75CF-435F-9BA9-5FD564044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Spring MVC</a:t>
            </a:r>
            <a:r>
              <a:rPr lang="ko-KR" altLang="en-US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2800">
                <a:solidFill>
                  <a:schemeClr val="tx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vs</a:t>
            </a:r>
            <a:r>
              <a:rPr lang="ko-KR" altLang="en-US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Spring</a:t>
            </a:r>
            <a:r>
              <a:rPr lang="ko-KR" altLang="en-US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WebFlux</a:t>
            </a:r>
            <a:endParaRPr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Google Shape;168;p16">
            <a:extLst>
              <a:ext uri="{FF2B5EF4-FFF2-40B4-BE49-F238E27FC236}">
                <a16:creationId xmlns:a16="http://schemas.microsoft.com/office/drawing/2014/main" id="{F6138518-B96A-4662-82EB-10284523AA78}"/>
              </a:ext>
            </a:extLst>
          </p:cNvPr>
          <p:cNvSpPr txBox="1">
            <a:spLocks/>
          </p:cNvSpPr>
          <p:nvPr/>
        </p:nvSpPr>
        <p:spPr>
          <a:xfrm>
            <a:off x="4967305" y="2281544"/>
            <a:ext cx="3699617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Non-Blocking I/O 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방식이다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DB93241-6EE8-49C4-BFB5-8A858E5A763B}"/>
              </a:ext>
            </a:extLst>
          </p:cNvPr>
          <p:cNvCxnSpPr>
            <a:cxnSpLocks/>
          </p:cNvCxnSpPr>
          <p:nvPr/>
        </p:nvCxnSpPr>
        <p:spPr>
          <a:xfrm>
            <a:off x="4369828" y="1931158"/>
            <a:ext cx="0" cy="29827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092B0D1-EDFA-48F7-9249-F7CD4C1BFE0A}"/>
              </a:ext>
            </a:extLst>
          </p:cNvPr>
          <p:cNvSpPr txBox="1"/>
          <p:nvPr/>
        </p:nvSpPr>
        <p:spPr>
          <a:xfrm>
            <a:off x="260133" y="1591612"/>
            <a:ext cx="3699616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Spring MVC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47ADDF-78D6-4F84-9B2D-FAF5BC602486}"/>
              </a:ext>
            </a:extLst>
          </p:cNvPr>
          <p:cNvSpPr txBox="1"/>
          <p:nvPr/>
        </p:nvSpPr>
        <p:spPr>
          <a:xfrm>
            <a:off x="4800328" y="1595079"/>
            <a:ext cx="3699616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Spring WebFlux</a:t>
            </a:r>
          </a:p>
        </p:txBody>
      </p:sp>
      <p:sp>
        <p:nvSpPr>
          <p:cNvPr id="17" name="Google Shape;168;p16">
            <a:extLst>
              <a:ext uri="{FF2B5EF4-FFF2-40B4-BE49-F238E27FC236}">
                <a16:creationId xmlns:a16="http://schemas.microsoft.com/office/drawing/2014/main" id="{88C72ED0-67B4-4E92-9958-F2D71FC5FC2E}"/>
              </a:ext>
            </a:extLst>
          </p:cNvPr>
          <p:cNvSpPr txBox="1">
            <a:spLocks/>
          </p:cNvSpPr>
          <p:nvPr/>
        </p:nvSpPr>
        <p:spPr>
          <a:xfrm>
            <a:off x="260133" y="2741783"/>
            <a:ext cx="3699617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요청 당 하나의 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Thread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사용한다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8" name="Google Shape;168;p16">
            <a:extLst>
              <a:ext uri="{FF2B5EF4-FFF2-40B4-BE49-F238E27FC236}">
                <a16:creationId xmlns:a16="http://schemas.microsoft.com/office/drawing/2014/main" id="{BA8AD12D-19C8-458E-A43C-6F275C199EA7}"/>
              </a:ext>
            </a:extLst>
          </p:cNvPr>
          <p:cNvSpPr txBox="1">
            <a:spLocks/>
          </p:cNvSpPr>
          <p:nvPr/>
        </p:nvSpPr>
        <p:spPr>
          <a:xfrm>
            <a:off x="4967305" y="2747499"/>
            <a:ext cx="3916550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하나의 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Thread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대량의 요청을 처리한다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9" name="Google Shape;168;p16">
            <a:extLst>
              <a:ext uri="{FF2B5EF4-FFF2-40B4-BE49-F238E27FC236}">
                <a16:creationId xmlns:a16="http://schemas.microsoft.com/office/drawing/2014/main" id="{B019A36B-346E-4C46-A499-D38E75405885}"/>
              </a:ext>
            </a:extLst>
          </p:cNvPr>
          <p:cNvSpPr txBox="1">
            <a:spLocks/>
          </p:cNvSpPr>
          <p:nvPr/>
        </p:nvSpPr>
        <p:spPr>
          <a:xfrm>
            <a:off x="260133" y="3195198"/>
            <a:ext cx="3699617" cy="1011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과도한 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Thread 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사용으로 인한 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CPU 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대기 시간이 늘어나고 메모리 사용에서 오버헤드가 발생한다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0" name="Google Shape;168;p16">
            <a:extLst>
              <a:ext uri="{FF2B5EF4-FFF2-40B4-BE49-F238E27FC236}">
                <a16:creationId xmlns:a16="http://schemas.microsoft.com/office/drawing/2014/main" id="{1AACA4DB-379E-45EB-8715-92120AFE2041}"/>
              </a:ext>
            </a:extLst>
          </p:cNvPr>
          <p:cNvSpPr txBox="1">
            <a:spLocks/>
          </p:cNvSpPr>
          <p:nvPr/>
        </p:nvSpPr>
        <p:spPr>
          <a:xfrm>
            <a:off x="4967305" y="3200914"/>
            <a:ext cx="3699617" cy="70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적은 수의 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Thread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사용하므로 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CPU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메모리를 효율적으로 사용한다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1" name="Google Shape;168;p16">
            <a:extLst>
              <a:ext uri="{FF2B5EF4-FFF2-40B4-BE49-F238E27FC236}">
                <a16:creationId xmlns:a16="http://schemas.microsoft.com/office/drawing/2014/main" id="{94787374-E895-42C5-AD35-9C87E7FC81E8}"/>
              </a:ext>
            </a:extLst>
          </p:cNvPr>
          <p:cNvSpPr txBox="1">
            <a:spLocks/>
          </p:cNvSpPr>
          <p:nvPr/>
        </p:nvSpPr>
        <p:spPr>
          <a:xfrm>
            <a:off x="4967305" y="3826318"/>
            <a:ext cx="3699617" cy="655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CPU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많이 사용하는 복잡한 계산을 요청할 경우 다른 요청들을 처리할 수 없다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2" name="Google Shape;168;p16">
            <a:extLst>
              <a:ext uri="{FF2B5EF4-FFF2-40B4-BE49-F238E27FC236}">
                <a16:creationId xmlns:a16="http://schemas.microsoft.com/office/drawing/2014/main" id="{F1992F44-1572-4CBE-A143-DB4F03D2A918}"/>
              </a:ext>
            </a:extLst>
          </p:cNvPr>
          <p:cNvSpPr txBox="1">
            <a:spLocks/>
          </p:cNvSpPr>
          <p:nvPr/>
        </p:nvSpPr>
        <p:spPr>
          <a:xfrm>
            <a:off x="4967305" y="4482300"/>
            <a:ext cx="3699617" cy="413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요청에서 응답까지 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Fully Non-Blocking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이어야 진정한 효과를 발휘한다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055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uiExpand="1" build="p"/>
      <p:bldP spid="8" grpId="0" uiExpand="1" build="p"/>
      <p:bldP spid="17" grpId="0" uiExpand="1" build="p"/>
      <p:bldP spid="18" grpId="0" uiExpand="1" build="p"/>
      <p:bldP spid="19" grpId="0" uiExpand="1" build="p"/>
      <p:bldP spid="20" grpId="0" uiExpand="1" build="p"/>
      <p:bldP spid="21" grpId="0" uiExpand="1" build="p"/>
      <p:bldP spid="2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260133" y="2275829"/>
            <a:ext cx="3699617" cy="46595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⊳"/>
            </a:pP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학습 시간이 상대적으로 짧다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1" name="Google Shape;167;p16">
            <a:extLst>
              <a:ext uri="{FF2B5EF4-FFF2-40B4-BE49-F238E27FC236}">
                <a16:creationId xmlns:a16="http://schemas.microsoft.com/office/drawing/2014/main" id="{A764D207-75CF-435F-9BA9-5FD564044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Spring MVC</a:t>
            </a:r>
            <a:r>
              <a:rPr lang="ko-KR" altLang="en-US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2800">
                <a:solidFill>
                  <a:schemeClr val="tx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vs</a:t>
            </a:r>
            <a:r>
              <a:rPr lang="ko-KR" altLang="en-US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Spring</a:t>
            </a:r>
            <a:r>
              <a:rPr lang="ko-KR" altLang="en-US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WebFlux</a:t>
            </a:r>
            <a:endParaRPr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8" name="Google Shape;168;p16">
            <a:extLst>
              <a:ext uri="{FF2B5EF4-FFF2-40B4-BE49-F238E27FC236}">
                <a16:creationId xmlns:a16="http://schemas.microsoft.com/office/drawing/2014/main" id="{F6138518-B96A-4662-82EB-10284523AA78}"/>
              </a:ext>
            </a:extLst>
          </p:cNvPr>
          <p:cNvSpPr txBox="1">
            <a:spLocks/>
          </p:cNvSpPr>
          <p:nvPr/>
        </p:nvSpPr>
        <p:spPr>
          <a:xfrm>
            <a:off x="4967305" y="2281544"/>
            <a:ext cx="3699617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학습 난이도가 비교적 높은편이다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DB93241-6EE8-49C4-BFB5-8A858E5A763B}"/>
              </a:ext>
            </a:extLst>
          </p:cNvPr>
          <p:cNvCxnSpPr>
            <a:cxnSpLocks/>
          </p:cNvCxnSpPr>
          <p:nvPr/>
        </p:nvCxnSpPr>
        <p:spPr>
          <a:xfrm>
            <a:off x="4369828" y="1591612"/>
            <a:ext cx="0" cy="332229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092B0D1-EDFA-48F7-9249-F7CD4C1BFE0A}"/>
              </a:ext>
            </a:extLst>
          </p:cNvPr>
          <p:cNvSpPr txBox="1"/>
          <p:nvPr/>
        </p:nvSpPr>
        <p:spPr>
          <a:xfrm>
            <a:off x="260133" y="1591612"/>
            <a:ext cx="3699616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Spring MVC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47ADDF-78D6-4F84-9B2D-FAF5BC602486}"/>
              </a:ext>
            </a:extLst>
          </p:cNvPr>
          <p:cNvSpPr txBox="1"/>
          <p:nvPr/>
        </p:nvSpPr>
        <p:spPr>
          <a:xfrm>
            <a:off x="4800328" y="1595079"/>
            <a:ext cx="3699616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rgbClr val="00B05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Spring WebFlux</a:t>
            </a:r>
          </a:p>
        </p:txBody>
      </p:sp>
      <p:sp>
        <p:nvSpPr>
          <p:cNvPr id="17" name="Google Shape;168;p16">
            <a:extLst>
              <a:ext uri="{FF2B5EF4-FFF2-40B4-BE49-F238E27FC236}">
                <a16:creationId xmlns:a16="http://schemas.microsoft.com/office/drawing/2014/main" id="{88C72ED0-67B4-4E92-9958-F2D71FC5FC2E}"/>
              </a:ext>
            </a:extLst>
          </p:cNvPr>
          <p:cNvSpPr txBox="1">
            <a:spLocks/>
          </p:cNvSpPr>
          <p:nvPr/>
        </p:nvSpPr>
        <p:spPr>
          <a:xfrm>
            <a:off x="260133" y="2685489"/>
            <a:ext cx="3699617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이상 주도적으로 사용된 명령형 프로그래밍 기반 기술이기때문에 숙련된 개발자를 찾기가 쉽다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8" name="Google Shape;168;p16">
            <a:extLst>
              <a:ext uri="{FF2B5EF4-FFF2-40B4-BE49-F238E27FC236}">
                <a16:creationId xmlns:a16="http://schemas.microsoft.com/office/drawing/2014/main" id="{BA8AD12D-19C8-458E-A43C-6F275C199EA7}"/>
              </a:ext>
            </a:extLst>
          </p:cNvPr>
          <p:cNvSpPr txBox="1">
            <a:spLocks/>
          </p:cNvSpPr>
          <p:nvPr/>
        </p:nvSpPr>
        <p:spPr>
          <a:xfrm>
            <a:off x="4967305" y="2741784"/>
            <a:ext cx="3916550" cy="58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선언형 방식의 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Non-Blocking 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프로그래밍 지식을 갖춘 숙련된 개발자를 찾는것이 어렵다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9" name="Google Shape;168;p16">
            <a:extLst>
              <a:ext uri="{FF2B5EF4-FFF2-40B4-BE49-F238E27FC236}">
                <a16:creationId xmlns:a16="http://schemas.microsoft.com/office/drawing/2014/main" id="{B019A36B-346E-4C46-A499-D38E75405885}"/>
              </a:ext>
            </a:extLst>
          </p:cNvPr>
          <p:cNvSpPr txBox="1">
            <a:spLocks/>
          </p:cNvSpPr>
          <p:nvPr/>
        </p:nvSpPr>
        <p:spPr>
          <a:xfrm>
            <a:off x="260133" y="3555388"/>
            <a:ext cx="3699617" cy="1011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따라서 기업에서도 신규 프로젝트를 안정적으로 진행할 수 있는 가능성이 높다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1" name="Google Shape;168;p16">
            <a:extLst>
              <a:ext uri="{FF2B5EF4-FFF2-40B4-BE49-F238E27FC236}">
                <a16:creationId xmlns:a16="http://schemas.microsoft.com/office/drawing/2014/main" id="{94787374-E895-42C5-AD35-9C87E7FC81E8}"/>
              </a:ext>
            </a:extLst>
          </p:cNvPr>
          <p:cNvSpPr txBox="1">
            <a:spLocks/>
          </p:cNvSpPr>
          <p:nvPr/>
        </p:nvSpPr>
        <p:spPr>
          <a:xfrm>
            <a:off x="4967305" y="3456067"/>
            <a:ext cx="3699617" cy="655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따라서 기업에서는 개발 인력면에서나 기술적인 측면에서나 위험 부담을 감수해야될 가능성이 높다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032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uiExpand="1" build="p"/>
      <p:bldP spid="8" grpId="0" uiExpand="1" build="p"/>
      <p:bldP spid="17" grpId="0" uiExpand="1" build="p"/>
      <p:bldP spid="18" grpId="0" uiExpand="1" build="p"/>
      <p:bldP spid="19" grpId="0" uiExpand="1" build="p"/>
      <p:bldP spid="21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Spring WebFlux </a:t>
            </a:r>
            <a:r>
              <a:rPr lang="ko-KR" altLang="en-US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개요</a:t>
            </a: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</a:p>
          <a:p>
            <a:pPr marL="0" indent="0">
              <a:buFont typeface="Encode Sans Semi Condensed Light"/>
              <a:buNone/>
            </a:pPr>
            <a:r>
              <a:rPr lang="ko-KR" altLang="en-US" sz="2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2000"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https://github.com/ITVillage-Kevin/spring-reactive-01</a:t>
            </a:r>
            <a:endParaRPr lang="ko-KR" altLang="en-US" sz="20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802525" y="475776"/>
            <a:ext cx="7539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2430</TotalTime>
  <Words>192</Words>
  <Application>Microsoft Office PowerPoint</Application>
  <PresentationFormat>화면 슬라이드 쇼(16:9)</PresentationFormat>
  <Paragraphs>28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나눔바른고딕</vt:lpstr>
      <vt:lpstr>Arial</vt:lpstr>
      <vt:lpstr>Encode Sans Semi Condensed SemiBold</vt:lpstr>
      <vt:lpstr>나눔고딕 ExtraBold</vt:lpstr>
      <vt:lpstr>나눔스퀘어라운드 ExtraBold</vt:lpstr>
      <vt:lpstr>Encode Sans Semi Condensed Light</vt:lpstr>
      <vt:lpstr>Ferdinand template</vt:lpstr>
      <vt:lpstr>Kevin의 알기 쉬운 </vt:lpstr>
      <vt:lpstr>Spring MVC vs Spring WebFlux</vt:lpstr>
      <vt:lpstr>Spring MVC vs Spring WebFlux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97</cp:revision>
  <dcterms:modified xsi:type="dcterms:W3CDTF">2021-05-13T09:06:43Z</dcterms:modified>
</cp:coreProperties>
</file>