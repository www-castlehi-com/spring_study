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87" r:id="rId3"/>
    <p:sldId id="296" r:id="rId4"/>
    <p:sldId id="299" r:id="rId5"/>
    <p:sldId id="297" r:id="rId6"/>
    <p:sldId id="300" r:id="rId7"/>
    <p:sldId id="284" r:id="rId8"/>
  </p:sldIdLst>
  <p:sldSz cx="9144000" cy="5143500" type="screen16x9"/>
  <p:notesSz cx="6858000" cy="9144000"/>
  <p:embeddedFontLst>
    <p:embeddedFont>
      <p:font typeface="나눔고딕 ExtraBold" panose="020B0600000101010101" charset="-127"/>
      <p:bold r:id="rId10"/>
    </p:embeddedFont>
    <p:embeddedFont>
      <p:font typeface="나눔스퀘어라운드 ExtraBold" panose="020B0600000101010101" charset="-127"/>
      <p:bold r:id="rId11"/>
    </p:embeddedFont>
    <p:embeddedFont>
      <p:font typeface="Encode Sans Semi Condensed Light" panose="020B0600000101010101" charset="0"/>
      <p:regular r:id="rId12"/>
      <p:bold r:id="rId13"/>
    </p:embeddedFont>
    <p:embeddedFont>
      <p:font typeface="Encode Sans Semi Condensed SemiBold" panose="00000706000000000000" charset="0"/>
      <p:regular r:id="rId14"/>
      <p:bold r:id="rId15"/>
    </p:embeddedFont>
    <p:embeddedFont>
      <p:font typeface="나눔바른고딕" panose="020B0603020101020101" pitchFamily="50" charset="-127"/>
      <p:regular r:id="rId16"/>
      <p:bold r:id="rId17"/>
    </p:embeddedFont>
    <p:embeddedFont>
      <p:font typeface="배달의민족 도현" panose="020B0600000101010101" pitchFamily="50" charset="-127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9900"/>
    <a:srgbClr val="003399"/>
    <a:srgbClr val="0066FF"/>
    <a:srgbClr val="3333FF"/>
    <a:srgbClr val="6699FF"/>
    <a:srgbClr val="6666FF"/>
    <a:srgbClr val="0099FF"/>
    <a:srgbClr val="99CCFF"/>
    <a:srgbClr val="6DB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88" autoAdjust="0"/>
    <p:restoredTop sz="74227" autoAdjust="0"/>
  </p:normalViewPr>
  <p:slideViewPr>
    <p:cSldViewPr snapToGrid="0">
      <p:cViewPr varScale="1">
        <p:scale>
          <a:sx n="127" d="100"/>
          <a:sy n="127" d="100"/>
        </p:scale>
        <p:origin x="1476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067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8262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393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2003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8100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pring.io/reactiv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spring.io/spring-framework/docs/5.2.5.RELEASE/spring-framework-reference/web-reactive.html#webflux-framework-choic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 WebFlux </a:t>
            </a:r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개요 </a:t>
            </a:r>
            <a:endParaRPr lang="en-US" altLang="ko-KR" sz="4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1206100" y="1524880"/>
            <a:ext cx="7465202" cy="46595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5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부터 지원하는 리액티브 웹 프레임워크이다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1" name="Google Shape;167;p16">
            <a:extLst>
              <a:ext uri="{FF2B5EF4-FFF2-40B4-BE49-F238E27FC236}">
                <a16:creationId xmlns:a16="http://schemas.microsoft.com/office/drawing/2014/main" id="{A764D207-75CF-435F-9BA9-5FD564044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 WebFlux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란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Google Shape;168;p16">
            <a:extLst>
              <a:ext uri="{FF2B5EF4-FFF2-40B4-BE49-F238E27FC236}">
                <a16:creationId xmlns:a16="http://schemas.microsoft.com/office/drawing/2014/main" id="{3DF7088A-EB93-4A38-B341-4B4A281F4DE0}"/>
              </a:ext>
            </a:extLst>
          </p:cNvPr>
          <p:cNvSpPr txBox="1">
            <a:spLocks/>
          </p:cNvSpPr>
          <p:nvPr/>
        </p:nvSpPr>
        <p:spPr>
          <a:xfrm>
            <a:off x="1206100" y="2050521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비동기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Non-Blocking I/O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방식으로 적은 수의 쓰레드를 사용한다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C137E100-B1D3-4149-B4F0-AE1200EB3B77}"/>
              </a:ext>
            </a:extLst>
          </p:cNvPr>
          <p:cNvSpPr txBox="1">
            <a:spLocks/>
          </p:cNvSpPr>
          <p:nvPr/>
        </p:nvSpPr>
        <p:spPr>
          <a:xfrm>
            <a:off x="1206100" y="2503309"/>
            <a:ext cx="7465202" cy="65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Reactive Streams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구현체 중에 하나인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의존하여 비동기 로직을 구성하고 리액티브 스트림을 제공한다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B54F7DB6-802F-4718-9580-719628FF2D6D}"/>
              </a:ext>
            </a:extLst>
          </p:cNvPr>
          <p:cNvSpPr txBox="1">
            <a:spLocks/>
          </p:cNvSpPr>
          <p:nvPr/>
        </p:nvSpPr>
        <p:spPr>
          <a:xfrm>
            <a:off x="1206100" y="3283965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기반이지만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RxJava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등 다른 리액티브 확장 라이브러리를 쉽게 적용할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4" name="Google Shape;168;p16">
            <a:extLst>
              <a:ext uri="{FF2B5EF4-FFF2-40B4-BE49-F238E27FC236}">
                <a16:creationId xmlns:a16="http://schemas.microsoft.com/office/drawing/2014/main" id="{2F35189E-E118-499F-B356-E187C4D143BD}"/>
              </a:ext>
            </a:extLst>
          </p:cNvPr>
          <p:cNvSpPr txBox="1">
            <a:spLocks/>
          </p:cNvSpPr>
          <p:nvPr/>
        </p:nvSpPr>
        <p:spPr>
          <a:xfrm>
            <a:off x="1206100" y="4043071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WebFlux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자체의 학습 비용보다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학습 비용이 더 많이 든다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401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uiExpand="1" build="p"/>
      <p:bldP spid="13" grpId="0" uiExpand="1" build="p"/>
      <p:bldP spid="7" grpId="0" uiExpand="1" build="p"/>
      <p:bldP spid="12" grpId="0" uiExpand="1" build="p"/>
      <p:bldP spid="1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7;p16">
            <a:extLst>
              <a:ext uri="{FF2B5EF4-FFF2-40B4-BE49-F238E27FC236}">
                <a16:creationId xmlns:a16="http://schemas.microsoft.com/office/drawing/2014/main" id="{A764D207-75CF-435F-9BA9-5FD564044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 MVC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와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 </a:t>
            </a: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WebFlux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기술 스택 비교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0AC85F-D3EF-4561-978B-FAAC066C2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501" y="1307487"/>
            <a:ext cx="4695218" cy="3569550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F471DF-D70F-4BC2-A446-74F421750B4B}"/>
              </a:ext>
            </a:extLst>
          </p:cNvPr>
          <p:cNvSpPr txBox="1"/>
          <p:nvPr/>
        </p:nvSpPr>
        <p:spPr>
          <a:xfrm>
            <a:off x="1861224" y="4925052"/>
            <a:ext cx="48897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 </a:t>
            </a:r>
            <a:r>
              <a:rPr lang="ko-KR" altLang="en-US" sz="9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sz="9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en-US" altLang="ko-KR" sz="900">
                <a:latin typeface="나눔바른고딕" panose="020B0603020101020101" pitchFamily="50" charset="-127"/>
                <a:ea typeface="나눔바른고딕" panose="020B0603020101020101" pitchFamily="50" charset="-127"/>
                <a:hlinkClick r:id="rId4"/>
              </a:rPr>
              <a:t>http://spring.io/reactive</a:t>
            </a:r>
            <a:r>
              <a:rPr lang="ko-KR" altLang="en-US" sz="900">
                <a:latin typeface="나눔바른고딕" panose="020B0603020101020101" pitchFamily="50" charset="-127"/>
                <a:ea typeface="나눔바른고딕" panose="020B0603020101020101" pitchFamily="50" charset="-127"/>
                <a:hlinkClick r:id="rId4"/>
              </a:rPr>
              <a:t> </a:t>
            </a:r>
            <a:r>
              <a:rPr lang="en-US" altLang="ko-KR" sz="9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20487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7;p16">
            <a:extLst>
              <a:ext uri="{FF2B5EF4-FFF2-40B4-BE49-F238E27FC236}">
                <a16:creationId xmlns:a16="http://schemas.microsoft.com/office/drawing/2014/main" id="{A764D207-75CF-435F-9BA9-5FD564044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 MVC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와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 </a:t>
            </a: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WebFlux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밴다이어그램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17E5CA-AEAC-4B1E-B9C0-E00E5D90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444" y="1433209"/>
            <a:ext cx="6092916" cy="3405490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DB8B41-4E6B-4073-9DB8-FFBBFBED08E5}"/>
              </a:ext>
            </a:extLst>
          </p:cNvPr>
          <p:cNvSpPr txBox="1"/>
          <p:nvPr/>
        </p:nvSpPr>
        <p:spPr>
          <a:xfrm>
            <a:off x="6484" y="4925052"/>
            <a:ext cx="85992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 </a:t>
            </a:r>
            <a:r>
              <a:rPr lang="ko-KR" altLang="en-US" sz="9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sz="9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en-US" altLang="ko-KR" sz="900">
                <a:latin typeface="나눔바른고딕" panose="020B0603020101020101" pitchFamily="50" charset="-127"/>
                <a:ea typeface="나눔바른고딕" panose="020B0603020101020101" pitchFamily="50" charset="-127"/>
                <a:hlinkClick r:id="rId4"/>
              </a:rPr>
              <a:t>https://docs.spring.io/spring-framework/docs/5.2.5.RELEASE/spring-framework-reference/web-reactive.html#webflux-framework-choice</a:t>
            </a:r>
            <a:r>
              <a:rPr lang="ko-KR" altLang="en-US" sz="900">
                <a:latin typeface="나눔바른고딕" panose="020B0603020101020101" pitchFamily="50" charset="-127"/>
                <a:ea typeface="나눔바른고딕" panose="020B0603020101020101" pitchFamily="50" charset="-127"/>
                <a:hlinkClick r:id="rId4"/>
              </a:rPr>
              <a:t> </a:t>
            </a:r>
            <a:r>
              <a:rPr lang="en-US" altLang="ko-KR" sz="9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54341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7;p16">
            <a:extLst>
              <a:ext uri="{FF2B5EF4-FFF2-40B4-BE49-F238E27FC236}">
                <a16:creationId xmlns:a16="http://schemas.microsoft.com/office/drawing/2014/main" id="{A764D207-75CF-435F-9BA9-5FD564044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 </a:t>
            </a: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WebFlux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Non-Blocking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프로세스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0A568E-752C-4BCF-96F6-7D513B11DED0}"/>
              </a:ext>
            </a:extLst>
          </p:cNvPr>
          <p:cNvSpPr/>
          <p:nvPr/>
        </p:nvSpPr>
        <p:spPr>
          <a:xfrm>
            <a:off x="776445" y="1596429"/>
            <a:ext cx="1128556" cy="312597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ko-KR" altLang="en-US" sz="1200">
                <a:ln w="0"/>
                <a:effectLst/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Microsoft Himalaya" panose="01010100010101010101" pitchFamily="2" charset="0"/>
              </a:rPr>
              <a:t>클라이언트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32C501-6D2F-4C89-8D5E-C9D4BD868E8E}"/>
              </a:ext>
            </a:extLst>
          </p:cNvPr>
          <p:cNvSpPr/>
          <p:nvPr/>
        </p:nvSpPr>
        <p:spPr>
          <a:xfrm>
            <a:off x="776445" y="4505281"/>
            <a:ext cx="1128556" cy="312597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ko-KR" altLang="en-US" sz="1200">
                <a:ln w="0"/>
                <a:effectLst/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Microsoft Himalaya" panose="01010100010101010101" pitchFamily="2" charset="0"/>
              </a:rPr>
              <a:t>클라이언트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33896F2-889F-4725-B445-707E925A7C5B}"/>
              </a:ext>
            </a:extLst>
          </p:cNvPr>
          <p:cNvSpPr/>
          <p:nvPr/>
        </p:nvSpPr>
        <p:spPr>
          <a:xfrm>
            <a:off x="776445" y="2323642"/>
            <a:ext cx="1128556" cy="312597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ko-KR" altLang="en-US" sz="1200">
                <a:ln w="0"/>
                <a:effectLst/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Microsoft Himalaya" panose="01010100010101010101" pitchFamily="2" charset="0"/>
              </a:rPr>
              <a:t>클라이언트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136B72A-38E9-4246-BBDA-E50C31B8FDF6}"/>
              </a:ext>
            </a:extLst>
          </p:cNvPr>
          <p:cNvSpPr/>
          <p:nvPr/>
        </p:nvSpPr>
        <p:spPr>
          <a:xfrm>
            <a:off x="776445" y="3050855"/>
            <a:ext cx="1128556" cy="312597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ko-KR" altLang="en-US" sz="1200">
                <a:ln w="0"/>
                <a:effectLst/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Microsoft Himalaya" panose="01010100010101010101" pitchFamily="2" charset="0"/>
              </a:rPr>
              <a:t>클라이언트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02EC6B-5939-4EA2-9C63-FA1A51C73A5A}"/>
              </a:ext>
            </a:extLst>
          </p:cNvPr>
          <p:cNvSpPr/>
          <p:nvPr/>
        </p:nvSpPr>
        <p:spPr>
          <a:xfrm>
            <a:off x="776445" y="3778068"/>
            <a:ext cx="1128556" cy="312597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ko-KR" altLang="en-US" sz="1200">
                <a:ln w="0"/>
                <a:effectLst/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Microsoft Himalaya" panose="01010100010101010101" pitchFamily="2" charset="0"/>
              </a:rPr>
              <a:t>클라이언트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8F0BB97-0693-4F5C-82E4-6F46B16EF5C6}"/>
              </a:ext>
            </a:extLst>
          </p:cNvPr>
          <p:cNvSpPr/>
          <p:nvPr/>
        </p:nvSpPr>
        <p:spPr>
          <a:xfrm>
            <a:off x="3224107" y="1596428"/>
            <a:ext cx="5043772" cy="32214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ko-KR" altLang="en-US" sz="3600">
              <a:ln w="0"/>
              <a:solidFill>
                <a:srgbClr val="FFFF00"/>
              </a:solidFill>
              <a:effectLst>
                <a:reflection blurRad="6350" stA="53000" endA="300" endPos="35500" dir="5400000" sy="-90000" algn="bl" rotWithShape="0"/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  <a:cs typeface="Microsoft Himalaya" panose="01010100010101010101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AFA8F6-35A0-408D-AABB-D4973D7C0BEA}"/>
              </a:ext>
            </a:extLst>
          </p:cNvPr>
          <p:cNvSpPr txBox="1"/>
          <p:nvPr/>
        </p:nvSpPr>
        <p:spPr>
          <a:xfrm>
            <a:off x="3142827" y="1379214"/>
            <a:ext cx="1598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CPU</a:t>
            </a:r>
            <a:r>
              <a:rPr lang="ko-KR" altLang="en-US" sz="1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코어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E3DF8A-3707-4A50-9196-A0D448153AB3}"/>
              </a:ext>
            </a:extLst>
          </p:cNvPr>
          <p:cNvSpPr/>
          <p:nvPr/>
        </p:nvSpPr>
        <p:spPr>
          <a:xfrm>
            <a:off x="3519715" y="1990305"/>
            <a:ext cx="4466045" cy="2596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ko-KR" altLang="en-US" sz="3600">
              <a:ln w="0"/>
              <a:solidFill>
                <a:srgbClr val="FFFF00"/>
              </a:solidFill>
              <a:effectLst>
                <a:reflection blurRad="6350" stA="53000" endA="300" endPos="35500" dir="5400000" sy="-90000" algn="bl" rotWithShape="0"/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  <a:cs typeface="Microsoft Himalaya" panose="01010100010101010101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ED1BC7-16F7-43ED-A3B7-DE36E0C383D6}"/>
              </a:ext>
            </a:extLst>
          </p:cNvPr>
          <p:cNvSpPr txBox="1"/>
          <p:nvPr/>
        </p:nvSpPr>
        <p:spPr>
          <a:xfrm>
            <a:off x="3519715" y="1802192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쓰레드</a:t>
            </a: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445DDB68-DE3A-4CBA-8A51-46779CF8706B}"/>
              </a:ext>
            </a:extLst>
          </p:cNvPr>
          <p:cNvSpPr/>
          <p:nvPr/>
        </p:nvSpPr>
        <p:spPr>
          <a:xfrm>
            <a:off x="3683766" y="2893622"/>
            <a:ext cx="743346" cy="721882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 w="158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요청 </a:t>
            </a:r>
            <a:br>
              <a:rPr lang="en-US" altLang="ko-KR" sz="800">
                <a:solidFill>
                  <a:schemeClr val="tx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</a:br>
            <a:r>
              <a:rPr lang="ko-KR" altLang="en-US" sz="800">
                <a:solidFill>
                  <a:schemeClr val="tx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핸들러</a:t>
            </a:r>
          </a:p>
        </p:txBody>
      </p:sp>
      <p:sp>
        <p:nvSpPr>
          <p:cNvPr id="22" name="화살표: 왼쪽으로 구부러짐 21">
            <a:extLst>
              <a:ext uri="{FF2B5EF4-FFF2-40B4-BE49-F238E27FC236}">
                <a16:creationId xmlns:a16="http://schemas.microsoft.com/office/drawing/2014/main" id="{D5398731-4279-4A22-8AAA-44877B30346A}"/>
              </a:ext>
            </a:extLst>
          </p:cNvPr>
          <p:cNvSpPr/>
          <p:nvPr/>
        </p:nvSpPr>
        <p:spPr>
          <a:xfrm rot="16200000">
            <a:off x="5529311" y="2561514"/>
            <a:ext cx="437348" cy="901733"/>
          </a:xfrm>
          <a:prstGeom prst="curvedLeftArrow">
            <a:avLst/>
          </a:prstGeom>
          <a:solidFill>
            <a:srgbClr val="0066FF"/>
          </a:solidFill>
          <a:ln w="158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화살표: 왼쪽으로 구부러짐 24">
            <a:extLst>
              <a:ext uri="{FF2B5EF4-FFF2-40B4-BE49-F238E27FC236}">
                <a16:creationId xmlns:a16="http://schemas.microsoft.com/office/drawing/2014/main" id="{E6AAF783-ECAE-497F-BD95-46F6D0CBB98B}"/>
              </a:ext>
            </a:extLst>
          </p:cNvPr>
          <p:cNvSpPr/>
          <p:nvPr/>
        </p:nvSpPr>
        <p:spPr>
          <a:xfrm rot="5400000">
            <a:off x="5483004" y="3058921"/>
            <a:ext cx="437348" cy="901733"/>
          </a:xfrm>
          <a:prstGeom prst="curvedLeftArrow">
            <a:avLst/>
          </a:prstGeom>
          <a:solidFill>
            <a:srgbClr val="0066FF"/>
          </a:solidFill>
          <a:ln w="15875"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92F14F3-285B-4326-8FF3-F18CA52F2022}"/>
              </a:ext>
            </a:extLst>
          </p:cNvPr>
          <p:cNvSpPr/>
          <p:nvPr/>
        </p:nvSpPr>
        <p:spPr>
          <a:xfrm>
            <a:off x="6994717" y="2636239"/>
            <a:ext cx="901735" cy="1389942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ko-KR" altLang="en-US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  <a:t>시간이 오래 </a:t>
            </a:r>
            <a:br>
              <a:rPr lang="en-US" altLang="ko-KR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</a:br>
            <a:r>
              <a:rPr lang="ko-KR" altLang="en-US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  <a:t>걸리는 작업</a:t>
            </a:r>
            <a:br>
              <a:rPr lang="en-US" altLang="ko-KR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</a:br>
            <a:r>
              <a:rPr lang="en-US" altLang="ko-KR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  <a:t>(</a:t>
            </a:r>
            <a:r>
              <a:rPr lang="ko-KR" altLang="en-US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  <a:t>네트워크</a:t>
            </a:r>
            <a:r>
              <a:rPr lang="en-US" altLang="ko-KR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  <a:t>,</a:t>
            </a:r>
          </a:p>
          <a:p>
            <a:pPr algn="ctr"/>
            <a:r>
              <a:rPr lang="ko-KR" altLang="en-US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  <a:t>데이터베이스</a:t>
            </a:r>
            <a:r>
              <a:rPr lang="en-US" altLang="ko-KR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  <a:t>, </a:t>
            </a:r>
            <a:r>
              <a:rPr lang="ko-KR" altLang="en-US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  <a:t>연산 작업 등</a:t>
            </a:r>
            <a:r>
              <a:rPr lang="en-US" altLang="ko-KR" sz="900" b="1">
                <a:ln w="0"/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Himalaya" panose="01010100010101010101" pitchFamily="2" charset="0"/>
              </a:rPr>
              <a:t>) </a:t>
            </a:r>
            <a:endParaRPr lang="ko-KR" altLang="en-US" sz="900" b="1">
              <a:ln w="0"/>
              <a:effectLst/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Himalaya" panose="01010100010101010101" pitchFamily="2" charset="0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0B00CA5-6C33-4EDE-B56A-9E0EA1E1815C}"/>
              </a:ext>
            </a:extLst>
          </p:cNvPr>
          <p:cNvGrpSpPr/>
          <p:nvPr/>
        </p:nvGrpSpPr>
        <p:grpSpPr>
          <a:xfrm>
            <a:off x="1905001" y="1756358"/>
            <a:ext cx="1887626" cy="2884604"/>
            <a:chOff x="1905001" y="1756358"/>
            <a:chExt cx="1887626" cy="2884604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0967D8EC-F0A5-4BC8-83F3-1A07BF2204E4}"/>
                </a:ext>
              </a:extLst>
            </p:cNvPr>
            <p:cNvGrpSpPr/>
            <p:nvPr/>
          </p:nvGrpSpPr>
          <p:grpSpPr>
            <a:xfrm>
              <a:off x="1905001" y="1756358"/>
              <a:ext cx="1887626" cy="2884604"/>
              <a:chOff x="1905001" y="1756358"/>
              <a:chExt cx="1887626" cy="2884604"/>
            </a:xfrm>
          </p:grpSpPr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8436FC07-7A72-4E47-AE2D-C9B3D312198A}"/>
                  </a:ext>
                </a:extLst>
              </p:cNvPr>
              <p:cNvCxnSpPr>
                <a:cxnSpLocks/>
                <a:endCxn id="21" idx="1"/>
              </p:cNvCxnSpPr>
              <p:nvPr/>
            </p:nvCxnSpPr>
            <p:spPr>
              <a:xfrm>
                <a:off x="1905001" y="1756358"/>
                <a:ext cx="1887626" cy="12429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화살표 연결선 27">
                <a:extLst>
                  <a:ext uri="{FF2B5EF4-FFF2-40B4-BE49-F238E27FC236}">
                    <a16:creationId xmlns:a16="http://schemas.microsoft.com/office/drawing/2014/main" id="{806D4834-C1B4-4470-B8BA-682D34E99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5001" y="2493507"/>
                <a:ext cx="1788751" cy="6214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7D7A580B-A2AE-4936-8271-5D5E853DCADA}"/>
                  </a:ext>
                </a:extLst>
              </p:cNvPr>
              <p:cNvCxnSpPr>
                <a:cxnSpLocks/>
                <a:endCxn id="21" idx="2"/>
              </p:cNvCxnSpPr>
              <p:nvPr/>
            </p:nvCxnSpPr>
            <p:spPr>
              <a:xfrm>
                <a:off x="1905001" y="3223987"/>
                <a:ext cx="1778765" cy="305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E39FF963-192D-49F5-A1ED-41A7DC4DB5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05001" y="3373388"/>
                <a:ext cx="1788751" cy="52692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37EC3731-6121-42C0-9FE1-C2C6265047C1}"/>
                  </a:ext>
                </a:extLst>
              </p:cNvPr>
              <p:cNvCxnSpPr>
                <a:cxnSpLocks/>
                <a:endCxn id="21" idx="3"/>
              </p:cNvCxnSpPr>
              <p:nvPr/>
            </p:nvCxnSpPr>
            <p:spPr>
              <a:xfrm flipV="1">
                <a:off x="1905001" y="3509787"/>
                <a:ext cx="1887626" cy="11157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F819A5F-2D61-4CC9-9FEA-16D8E28B17ED}"/>
                  </a:ext>
                </a:extLst>
              </p:cNvPr>
              <p:cNvSpPr/>
              <p:nvPr/>
            </p:nvSpPr>
            <p:spPr>
              <a:xfrm>
                <a:off x="2061531" y="1770112"/>
                <a:ext cx="987750" cy="2870850"/>
              </a:xfrm>
              <a:prstGeom prst="ellipse">
                <a:avLst/>
              </a:prstGeom>
              <a:solidFill>
                <a:srgbClr val="FFC000">
                  <a:alpha val="45000"/>
                </a:srgbClr>
              </a:solidFill>
              <a:ln w="9525">
                <a:solidFill>
                  <a:schemeClr val="tx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solidFill>
                    <a:srgbClr val="C0000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AD5CB7C-ADB8-44CD-B919-EEA266A7C0C7}"/>
                </a:ext>
              </a:extLst>
            </p:cNvPr>
            <p:cNvSpPr txBox="1"/>
            <p:nvPr/>
          </p:nvSpPr>
          <p:spPr>
            <a:xfrm>
              <a:off x="2061531" y="3011701"/>
              <a:ext cx="987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solidFill>
                    <a:srgbClr val="0033CC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request</a:t>
              </a:r>
              <a:endParaRPr lang="ko-KR" altLang="en-US" sz="1200">
                <a:solidFill>
                  <a:srgbClr val="0033CC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483A6F4-3C6C-4FCB-BC9F-80658D43699D}"/>
              </a:ext>
            </a:extLst>
          </p:cNvPr>
          <p:cNvGrpSpPr/>
          <p:nvPr/>
        </p:nvGrpSpPr>
        <p:grpSpPr>
          <a:xfrm>
            <a:off x="4385065" y="2883361"/>
            <a:ext cx="912053" cy="215444"/>
            <a:chOff x="4385065" y="2883361"/>
            <a:chExt cx="912053" cy="215444"/>
          </a:xfrm>
        </p:grpSpPr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81D8CD65-57CD-44E8-8BB0-FF4F392EA1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3314" y="3075141"/>
              <a:ext cx="893804" cy="123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3B53346-95BF-469F-8ACB-333CA5E6D4BD}"/>
                </a:ext>
              </a:extLst>
            </p:cNvPr>
            <p:cNvSpPr txBox="1"/>
            <p:nvPr/>
          </p:nvSpPr>
          <p:spPr>
            <a:xfrm>
              <a:off x="4385065" y="2883361"/>
              <a:ext cx="9017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요청 이벤트 푸시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9336A54-EC5B-4961-9A39-A9634D7D9E02}"/>
              </a:ext>
            </a:extLst>
          </p:cNvPr>
          <p:cNvGrpSpPr/>
          <p:nvPr/>
        </p:nvGrpSpPr>
        <p:grpSpPr>
          <a:xfrm>
            <a:off x="6043593" y="2883361"/>
            <a:ext cx="901734" cy="215444"/>
            <a:chOff x="6043593" y="2883361"/>
            <a:chExt cx="901734" cy="215444"/>
          </a:xfrm>
        </p:grpSpPr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25855BD2-1648-4128-9EEF-BBF48FEDE3D4}"/>
                </a:ext>
              </a:extLst>
            </p:cNvPr>
            <p:cNvCxnSpPr>
              <a:cxnSpLocks/>
            </p:cNvCxnSpPr>
            <p:nvPr/>
          </p:nvCxnSpPr>
          <p:spPr>
            <a:xfrm>
              <a:off x="6163157" y="3072721"/>
              <a:ext cx="76596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8DDDA0E-C624-49A2-9394-A735DD9D7CCC}"/>
                </a:ext>
              </a:extLst>
            </p:cNvPr>
            <p:cNvSpPr txBox="1"/>
            <p:nvPr/>
          </p:nvSpPr>
          <p:spPr>
            <a:xfrm>
              <a:off x="6043593" y="2883361"/>
              <a:ext cx="9017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콜백 등록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E9FA391-647D-4DA1-8811-FDF184D801C3}"/>
              </a:ext>
            </a:extLst>
          </p:cNvPr>
          <p:cNvGrpSpPr/>
          <p:nvPr/>
        </p:nvGrpSpPr>
        <p:grpSpPr>
          <a:xfrm>
            <a:off x="6043593" y="3424038"/>
            <a:ext cx="901734" cy="360706"/>
            <a:chOff x="6043593" y="3424038"/>
            <a:chExt cx="901734" cy="36070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76D90463-5A70-4CE6-BAC7-47AD1AFA0FBA}"/>
                </a:ext>
              </a:extLst>
            </p:cNvPr>
            <p:cNvCxnSpPr>
              <a:cxnSpLocks/>
            </p:cNvCxnSpPr>
            <p:nvPr/>
          </p:nvCxnSpPr>
          <p:spPr>
            <a:xfrm>
              <a:off x="6163157" y="3424038"/>
              <a:ext cx="76596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3CCBE1F-266C-436B-A2BE-138B0665E93A}"/>
                </a:ext>
              </a:extLst>
            </p:cNvPr>
            <p:cNvSpPr txBox="1"/>
            <p:nvPr/>
          </p:nvSpPr>
          <p:spPr>
            <a:xfrm>
              <a:off x="6043593" y="3446190"/>
              <a:ext cx="901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작업 완료 </a:t>
              </a:r>
              <a:endParaRPr lang="en-US" altLang="ko-KR" sz="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  <a:p>
              <a:pPr algn="ctr"/>
              <a:r>
                <a:rPr lang="ko-KR" altLang="en-US" sz="800"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이벤트 푸시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4430DDE-217A-4D0E-A021-C3ACFE877CBA}"/>
              </a:ext>
            </a:extLst>
          </p:cNvPr>
          <p:cNvGrpSpPr/>
          <p:nvPr/>
        </p:nvGrpSpPr>
        <p:grpSpPr>
          <a:xfrm>
            <a:off x="4403314" y="3411664"/>
            <a:ext cx="927733" cy="249970"/>
            <a:chOff x="4403314" y="3411664"/>
            <a:chExt cx="927733" cy="249970"/>
          </a:xfrm>
        </p:grpSpPr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2E63F6E0-CE03-438D-A73D-005B99986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3314" y="3411664"/>
              <a:ext cx="893804" cy="1237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FAA6AB5-C412-4B48-845A-666F4F441214}"/>
                </a:ext>
              </a:extLst>
            </p:cNvPr>
            <p:cNvSpPr txBox="1"/>
            <p:nvPr/>
          </p:nvSpPr>
          <p:spPr>
            <a:xfrm>
              <a:off x="4429313" y="3446190"/>
              <a:ext cx="9017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콜백 호출</a:t>
              </a:r>
              <a:endParaRPr lang="en-US" altLang="ko-KR" sz="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7B7410AD-369C-47B1-9935-AF64E199040E}"/>
              </a:ext>
            </a:extLst>
          </p:cNvPr>
          <p:cNvSpPr txBox="1"/>
          <p:nvPr/>
        </p:nvSpPr>
        <p:spPr>
          <a:xfrm>
            <a:off x="5260047" y="3170688"/>
            <a:ext cx="9017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>
                <a:solidFill>
                  <a:srgbClr val="FF00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이벤트 루프</a:t>
            </a:r>
            <a:endParaRPr lang="en-US" altLang="ko-KR" sz="800">
              <a:solidFill>
                <a:srgbClr val="FF000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7B88A3D-6739-4B88-AEA4-570B90104607}"/>
              </a:ext>
            </a:extLst>
          </p:cNvPr>
          <p:cNvGrpSpPr/>
          <p:nvPr/>
        </p:nvGrpSpPr>
        <p:grpSpPr>
          <a:xfrm>
            <a:off x="1900429" y="1756462"/>
            <a:ext cx="1887626" cy="2884604"/>
            <a:chOff x="2687031" y="1064715"/>
            <a:chExt cx="1887626" cy="2884604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750CDE12-1D42-4644-8D01-4A0F831E0083}"/>
                </a:ext>
              </a:extLst>
            </p:cNvPr>
            <p:cNvGrpSpPr/>
            <p:nvPr/>
          </p:nvGrpSpPr>
          <p:grpSpPr>
            <a:xfrm>
              <a:off x="2687031" y="1064715"/>
              <a:ext cx="1887626" cy="2884604"/>
              <a:chOff x="1905001" y="1756358"/>
              <a:chExt cx="1887626" cy="2884604"/>
            </a:xfrm>
          </p:grpSpPr>
          <p:cxnSp>
            <p:nvCxnSpPr>
              <p:cNvPr id="58" name="직선 화살표 연결선 57">
                <a:extLst>
                  <a:ext uri="{FF2B5EF4-FFF2-40B4-BE49-F238E27FC236}">
                    <a16:creationId xmlns:a16="http://schemas.microsoft.com/office/drawing/2014/main" id="{765C7928-BB9D-4A4A-8707-9388D9414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5001" y="1756358"/>
                <a:ext cx="1887626" cy="12429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화살표 연결선 58">
                <a:extLst>
                  <a:ext uri="{FF2B5EF4-FFF2-40B4-BE49-F238E27FC236}">
                    <a16:creationId xmlns:a16="http://schemas.microsoft.com/office/drawing/2014/main" id="{5ADBF8DB-FCF2-4356-A7D3-3E47EA6C83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5001" y="2493507"/>
                <a:ext cx="1788751" cy="6214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화살표 연결선 59">
                <a:extLst>
                  <a:ext uri="{FF2B5EF4-FFF2-40B4-BE49-F238E27FC236}">
                    <a16:creationId xmlns:a16="http://schemas.microsoft.com/office/drawing/2014/main" id="{F0A5462C-DCF5-408B-960A-FDB831308D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5001" y="3223987"/>
                <a:ext cx="1778765" cy="305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화살표 연결선 60">
                <a:extLst>
                  <a:ext uri="{FF2B5EF4-FFF2-40B4-BE49-F238E27FC236}">
                    <a16:creationId xmlns:a16="http://schemas.microsoft.com/office/drawing/2014/main" id="{21FF23E0-4739-4A45-9D34-F44B8C9332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05001" y="3373388"/>
                <a:ext cx="1788751" cy="52692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화살표 연결선 61">
                <a:extLst>
                  <a:ext uri="{FF2B5EF4-FFF2-40B4-BE49-F238E27FC236}">
                    <a16:creationId xmlns:a16="http://schemas.microsoft.com/office/drawing/2014/main" id="{4D950DB8-111D-46EF-AE0D-24F7601D1C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05001" y="3509787"/>
                <a:ext cx="1887626" cy="11157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4FD528AB-F3EF-4A1A-B01B-297FFFFE9A3A}"/>
                  </a:ext>
                </a:extLst>
              </p:cNvPr>
              <p:cNvSpPr/>
              <p:nvPr/>
            </p:nvSpPr>
            <p:spPr>
              <a:xfrm>
                <a:off x="2061531" y="1770112"/>
                <a:ext cx="987750" cy="2870850"/>
              </a:xfrm>
              <a:prstGeom prst="ellipse">
                <a:avLst/>
              </a:prstGeom>
              <a:solidFill>
                <a:srgbClr val="FFC000">
                  <a:alpha val="45000"/>
                </a:srgbClr>
              </a:solidFill>
              <a:ln w="9525">
                <a:solidFill>
                  <a:schemeClr val="tx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solidFill>
                    <a:srgbClr val="C0000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B01F1A8-BD4C-4F66-AB64-E0A36A74AB8A}"/>
                </a:ext>
              </a:extLst>
            </p:cNvPr>
            <p:cNvSpPr txBox="1"/>
            <p:nvPr/>
          </p:nvSpPr>
          <p:spPr>
            <a:xfrm>
              <a:off x="2839056" y="2324348"/>
              <a:ext cx="987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solidFill>
                    <a:srgbClr val="0033CC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response</a:t>
              </a:r>
              <a:endParaRPr lang="ko-KR" altLang="en-US" sz="1200">
                <a:solidFill>
                  <a:srgbClr val="0033CC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899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1206100" y="1417089"/>
            <a:ext cx="7465202" cy="46595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Blocking I/O </a:t>
            </a: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방식으로 처리하는데 한계가 있는 대량의 요청 트래픽이 발생하는 시스템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Google Shape;167;p16">
            <a:extLst>
              <a:ext uri="{FF2B5EF4-FFF2-40B4-BE49-F238E27FC236}">
                <a16:creationId xmlns:a16="http://schemas.microsoft.com/office/drawing/2014/main" id="{A764D207-75CF-435F-9BA9-5FD564044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 </a:t>
            </a: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WebFlux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사용하기 적합한 시스템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Google Shape;168;p16">
            <a:extLst>
              <a:ext uri="{FF2B5EF4-FFF2-40B4-BE49-F238E27FC236}">
                <a16:creationId xmlns:a16="http://schemas.microsoft.com/office/drawing/2014/main" id="{3DF7088A-EB93-4A38-B341-4B4A281F4DE0}"/>
              </a:ext>
            </a:extLst>
          </p:cNvPr>
          <p:cNvSpPr txBox="1">
            <a:spLocks/>
          </p:cNvSpPr>
          <p:nvPr/>
        </p:nvSpPr>
        <p:spPr>
          <a:xfrm>
            <a:off x="1206100" y="2024728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마이크로 서비스 기반 시스템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C137E100-B1D3-4149-B4F0-AE1200EB3B77}"/>
              </a:ext>
            </a:extLst>
          </p:cNvPr>
          <p:cNvSpPr txBox="1">
            <a:spLocks/>
          </p:cNvSpPr>
          <p:nvPr/>
        </p:nvSpPr>
        <p:spPr>
          <a:xfrm>
            <a:off x="1206100" y="2632367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스트리밍 시스템 또는 실시간 시스템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E26B5FAA-7D63-48C5-9492-6C2279D2770F}"/>
              </a:ext>
            </a:extLst>
          </p:cNvPr>
          <p:cNvSpPr txBox="1">
            <a:spLocks/>
          </p:cNvSpPr>
          <p:nvPr/>
        </p:nvSpPr>
        <p:spPr>
          <a:xfrm>
            <a:off x="1206100" y="3240005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네트워크 접속이 느린 클라이언트의 요청 처리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989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uiExpand="1" build="p"/>
      <p:bldP spid="13" grpId="0" uiExpand="1" build="p"/>
      <p:bldP spid="7" grpId="0" uiExpand="1" build="p"/>
      <p:bldP spid="1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수업 사전 </a:t>
            </a:r>
            <a:r>
              <a:rPr lang="ko-KR" altLang="en-US" sz="3600" b="1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준</a:t>
            </a:r>
            <a:r>
              <a:rPr lang="ko-KR" altLang="en-US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</a:t>
            </a: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</a:p>
          <a:p>
            <a:pPr marL="0" indent="0">
              <a:buFont typeface="Encode Sans Semi Condensed Light"/>
              <a:buNone/>
            </a:pPr>
            <a:r>
              <a: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2000"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https://github.com/ITVillage-Kevin/spring-reactive-01</a:t>
            </a:r>
            <a:endParaRPr lang="ko-KR" altLang="en-US" sz="20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802525" y="475776"/>
            <a:ext cx="7539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231</Words>
  <Application>Microsoft Office PowerPoint</Application>
  <PresentationFormat>화면 슬라이드 쇼(16:9)</PresentationFormat>
  <Paragraphs>41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Encode Sans Semi Condensed Light</vt:lpstr>
      <vt:lpstr>배달의민족 도현</vt:lpstr>
      <vt:lpstr>Arial</vt:lpstr>
      <vt:lpstr>나눔바른고딕</vt:lpstr>
      <vt:lpstr>Encode Sans Semi Condensed SemiBold</vt:lpstr>
      <vt:lpstr>나눔고딕 ExtraBold</vt:lpstr>
      <vt:lpstr>나눔스퀘어라운드 ExtraBold</vt:lpstr>
      <vt:lpstr>Ferdinand template</vt:lpstr>
      <vt:lpstr>Kevin의 알기 쉬운 </vt:lpstr>
      <vt:lpstr>Spring WebFlux란?</vt:lpstr>
      <vt:lpstr>Spring MVC와 Spring WebFlux의 기술 스택 비교</vt:lpstr>
      <vt:lpstr>Spring MVC와 Spring WebFlux의 밴다이어그램</vt:lpstr>
      <vt:lpstr>Spring WebFlux의 Non-Blocking 프로세스</vt:lpstr>
      <vt:lpstr>Spring WebFlux를 사용하기 적합한 시스템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109</cp:revision>
  <dcterms:modified xsi:type="dcterms:W3CDTF">2021-06-03T07:30:04Z</dcterms:modified>
</cp:coreProperties>
</file>