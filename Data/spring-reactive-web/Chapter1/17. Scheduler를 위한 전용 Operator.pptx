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7" r:id="rId1"/>
  </p:sldMasterIdLst>
  <p:notesMasterIdLst>
    <p:notesMasterId r:id="rId5"/>
  </p:notesMasterIdLst>
  <p:sldIdLst>
    <p:sldId id="256" r:id="rId2"/>
    <p:sldId id="297" r:id="rId3"/>
    <p:sldId id="298" r:id="rId4"/>
  </p:sldIdLst>
  <p:sldSz cx="9144000" cy="5143500" type="screen16x9"/>
  <p:notesSz cx="6858000" cy="9144000"/>
  <p:embeddedFontLst>
    <p:embeddedFont>
      <p:font typeface="나눔스퀘어라운드 ExtraBold" panose="020B0600000101010101" charset="-127"/>
      <p:bold r:id="rId6"/>
    </p:embeddedFont>
    <p:embeddedFont>
      <p:font typeface="Encode Sans Semi Condensed Light" panose="020B0600000101010101" charset="0"/>
      <p:regular r:id="rId7"/>
      <p:bold r:id="rId8"/>
    </p:embeddedFont>
    <p:embeddedFont>
      <p:font typeface="Encode Sans Semi Condensed SemiBold" panose="00000706000000000000" charset="0"/>
      <p:regular r:id="rId9"/>
      <p:bold r:id="rId10"/>
    </p:embeddedFont>
    <p:embeddedFont>
      <p:font typeface="맑은 고딕" panose="020B0503020000020004" pitchFamily="50" charset="-127"/>
      <p:regular r:id="rId11"/>
      <p:bold r:id="rId1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황 정식" initials="황정" lastIdx="1" clrIdx="0">
    <p:extLst>
      <p:ext uri="{19B8F6BF-5375-455C-9EA6-DF929625EA0E}">
        <p15:presenceInfo xmlns:p15="http://schemas.microsoft.com/office/powerpoint/2012/main" userId="황 정식" providerId="None"/>
      </p:ext>
    </p:extLst>
  </p:cmAuthor>
  <p:cmAuthor id="2" name="황정식" initials="황" lastIdx="1" clrIdx="1">
    <p:extLst>
      <p:ext uri="{19B8F6BF-5375-455C-9EA6-DF929625EA0E}">
        <p15:presenceInfo xmlns:p15="http://schemas.microsoft.com/office/powerpoint/2012/main" userId="황정식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99FF"/>
    <a:srgbClr val="996633"/>
    <a:srgbClr val="6DB33F"/>
    <a:srgbClr val="FF9900"/>
    <a:srgbClr val="99CCFF"/>
    <a:srgbClr val="0033CC"/>
    <a:srgbClr val="003399"/>
    <a:srgbClr val="0066FF"/>
    <a:srgbClr val="3333FF"/>
    <a:srgbClr val="66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1733CE0-5CC8-49EC-A5A2-AC90B53F43E9}">
  <a:tblStyle styleId="{21733CE0-5CC8-49EC-A5A2-AC90B53F43E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941" autoAdjust="0"/>
    <p:restoredTop sz="92353" autoAdjust="0"/>
  </p:normalViewPr>
  <p:slideViewPr>
    <p:cSldViewPr snapToGrid="0">
      <p:cViewPr varScale="1">
        <p:scale>
          <a:sx n="139" d="100"/>
          <a:sy n="139" d="100"/>
        </p:scale>
        <p:origin x="1248" y="11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13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font" Target="fonts/font2.fntdata"/><Relationship Id="rId12" Type="http://schemas.openxmlformats.org/officeDocument/2006/relationships/font" Target="fonts/font7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font" Target="fonts/font6.fntdata"/><Relationship Id="rId5" Type="http://schemas.openxmlformats.org/officeDocument/2006/relationships/notesMaster" Target="notesMasters/notesMaster1.xml"/><Relationship Id="rId15" Type="http://schemas.openxmlformats.org/officeDocument/2006/relationships/viewProps" Target="viewProps.xml"/><Relationship Id="rId10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font" Target="fonts/font4.fntdata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FontTx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FontTx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34357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FontTx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821567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bg>
      <p:bgPr>
        <a:gradFill>
          <a:gsLst>
            <a:gs pos="0">
              <a:srgbClr val="4F5876"/>
            </a:gs>
            <a:gs pos="100000">
              <a:srgbClr val="1D1F25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 rot="10800000">
            <a:off x="6904227" y="249339"/>
            <a:ext cx="2034302" cy="2271600"/>
            <a:chOff x="208025" y="2621275"/>
            <a:chExt cx="2034302" cy="2271600"/>
          </a:xfrm>
        </p:grpSpPr>
        <p:sp>
          <p:nvSpPr>
            <p:cNvPr id="11" name="Google Shape;11;p2"/>
            <p:cNvSpPr/>
            <p:nvPr/>
          </p:nvSpPr>
          <p:spPr>
            <a:xfrm rot="-5400000" flipH="1">
              <a:off x="89375" y="2739925"/>
              <a:ext cx="2271600" cy="2034300"/>
            </a:xfrm>
            <a:prstGeom prst="parallelogram">
              <a:avLst>
                <a:gd name="adj" fmla="val 22770"/>
              </a:avLst>
            </a:pr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rot="10800000">
              <a:off x="617527" y="4047646"/>
              <a:ext cx="1624800" cy="380700"/>
            </a:xfrm>
            <a:prstGeom prst="rtTriangl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" name="Google Shape;13;p2"/>
          <p:cNvGrpSpPr/>
          <p:nvPr/>
        </p:nvGrpSpPr>
        <p:grpSpPr>
          <a:xfrm>
            <a:off x="208025" y="2621275"/>
            <a:ext cx="2034302" cy="2271600"/>
            <a:chOff x="208025" y="2621275"/>
            <a:chExt cx="2034302" cy="2271600"/>
          </a:xfrm>
        </p:grpSpPr>
        <p:sp>
          <p:nvSpPr>
            <p:cNvPr id="14" name="Google Shape;14;p2"/>
            <p:cNvSpPr/>
            <p:nvPr/>
          </p:nvSpPr>
          <p:spPr>
            <a:xfrm rot="-5400000" flipH="1">
              <a:off x="89375" y="2739925"/>
              <a:ext cx="2271600" cy="2034300"/>
            </a:xfrm>
            <a:prstGeom prst="parallelogram">
              <a:avLst>
                <a:gd name="adj" fmla="val 22770"/>
              </a:avLst>
            </a:prstGeom>
            <a:gradFill>
              <a:gsLst>
                <a:gs pos="0">
                  <a:schemeClr val="accent1"/>
                </a:gs>
                <a:gs pos="29000">
                  <a:schemeClr val="accent2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617527" y="4047646"/>
              <a:ext cx="1624800" cy="380700"/>
            </a:xfrm>
            <a:prstGeom prst="rtTriangl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Google Shape;16;p2"/>
          <p:cNvSpPr/>
          <p:nvPr/>
        </p:nvSpPr>
        <p:spPr>
          <a:xfrm rot="10800000" flipH="1">
            <a:off x="624300" y="1092075"/>
            <a:ext cx="7895400" cy="29592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ctrTitle"/>
          </p:nvPr>
        </p:nvSpPr>
        <p:spPr>
          <a:xfrm>
            <a:off x="1101000" y="1738825"/>
            <a:ext cx="6942000" cy="1665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96813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 + 1 colum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oogle Shape;38;p5"/>
          <p:cNvGrpSpPr/>
          <p:nvPr/>
        </p:nvGrpSpPr>
        <p:grpSpPr>
          <a:xfrm>
            <a:off x="0" y="277661"/>
            <a:ext cx="7817376" cy="1293452"/>
            <a:chOff x="0" y="277661"/>
            <a:chExt cx="7817376" cy="1293452"/>
          </a:xfrm>
        </p:grpSpPr>
        <p:sp>
          <p:nvSpPr>
            <p:cNvPr id="39" name="Google Shape;39;p5"/>
            <p:cNvSpPr/>
            <p:nvPr/>
          </p:nvSpPr>
          <p:spPr>
            <a:xfrm rot="-5400000" flipH="1">
              <a:off x="112050" y="481364"/>
              <a:ext cx="977700" cy="1201800"/>
            </a:xfrm>
            <a:prstGeom prst="parallelogram">
              <a:avLst>
                <a:gd name="adj" fmla="val 10943"/>
              </a:avLst>
            </a:prstGeom>
            <a:gradFill>
              <a:gsLst>
                <a:gs pos="0">
                  <a:schemeClr val="accent1"/>
                </a:gs>
                <a:gs pos="29000">
                  <a:schemeClr val="accent2"/>
                </a:gs>
                <a:gs pos="100000">
                  <a:schemeClr val="accent3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5"/>
            <p:cNvSpPr/>
            <p:nvPr/>
          </p:nvSpPr>
          <p:spPr>
            <a:xfrm rot="10800000">
              <a:off x="278209" y="1169850"/>
              <a:ext cx="927900" cy="297900"/>
            </a:xfrm>
            <a:prstGeom prst="rtTriangle">
              <a:avLst/>
            </a:prstGeom>
            <a:gradFill>
              <a:gsLst>
                <a:gs pos="0">
                  <a:schemeClr val="accent1"/>
                </a:gs>
                <a:gs pos="4700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1" name="Google Shape;41;p5"/>
            <p:cNvGrpSpPr/>
            <p:nvPr/>
          </p:nvGrpSpPr>
          <p:grpSpPr>
            <a:xfrm>
              <a:off x="284659" y="277661"/>
              <a:ext cx="7532717" cy="895903"/>
              <a:chOff x="0" y="266575"/>
              <a:chExt cx="6046490" cy="1687200"/>
            </a:xfrm>
          </p:grpSpPr>
          <p:sp>
            <p:nvSpPr>
              <p:cNvPr id="42" name="Google Shape;42;p5"/>
              <p:cNvSpPr/>
              <p:nvPr/>
            </p:nvSpPr>
            <p:spPr>
              <a:xfrm rot="10800000" flipH="1">
                <a:off x="0" y="266575"/>
                <a:ext cx="5867700" cy="1687200"/>
              </a:xfrm>
              <a:prstGeom prst="rect">
                <a:avLst/>
              </a:pr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43;p5"/>
              <p:cNvSpPr/>
              <p:nvPr/>
            </p:nvSpPr>
            <p:spPr>
              <a:xfrm rot="10800000">
                <a:off x="5864390" y="266658"/>
                <a:ext cx="182100" cy="1684500"/>
              </a:xfrm>
              <a:prstGeom prst="triangle">
                <a:avLst>
                  <a:gd name="adj" fmla="val 100000"/>
                </a:avLst>
              </a:pr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4" name="Google Shape;44;p5"/>
          <p:cNvGrpSpPr/>
          <p:nvPr/>
        </p:nvGrpSpPr>
        <p:grpSpPr>
          <a:xfrm rot="10800000" flipH="1">
            <a:off x="8543953" y="4243733"/>
            <a:ext cx="600055" cy="374899"/>
            <a:chOff x="5211448" y="3165393"/>
            <a:chExt cx="1477967" cy="784800"/>
          </a:xfrm>
        </p:grpSpPr>
        <p:sp>
          <p:nvSpPr>
            <p:cNvPr id="45" name="Google Shape;45;p5"/>
            <p:cNvSpPr/>
            <p:nvPr/>
          </p:nvSpPr>
          <p:spPr>
            <a:xfrm rot="-5400000" flipH="1">
              <a:off x="5558565" y="2819343"/>
              <a:ext cx="784800" cy="1476900"/>
            </a:xfrm>
            <a:prstGeom prst="triangle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5"/>
            <p:cNvSpPr/>
            <p:nvPr/>
          </p:nvSpPr>
          <p:spPr>
            <a:xfrm rot="10800000" flipH="1">
              <a:off x="5211448" y="3169975"/>
              <a:ext cx="1477800" cy="389700"/>
            </a:xfrm>
            <a:prstGeom prst="rtTriangle">
              <a:avLst/>
            </a:prstGeom>
            <a:gradFill>
              <a:gsLst>
                <a:gs pos="0">
                  <a:schemeClr val="accent1"/>
                </a:gs>
                <a:gs pos="4700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" name="Google Shape;47;p5"/>
          <p:cNvGrpSpPr/>
          <p:nvPr/>
        </p:nvGrpSpPr>
        <p:grpSpPr>
          <a:xfrm flipH="1">
            <a:off x="8385351" y="4612318"/>
            <a:ext cx="758573" cy="531131"/>
            <a:chOff x="0" y="266575"/>
            <a:chExt cx="7503194" cy="1687200"/>
          </a:xfrm>
        </p:grpSpPr>
        <p:sp>
          <p:nvSpPr>
            <p:cNvPr id="48" name="Google Shape;48;p5"/>
            <p:cNvSpPr/>
            <p:nvPr/>
          </p:nvSpPr>
          <p:spPr>
            <a:xfrm rot="10800000" flipH="1">
              <a:off x="0" y="266575"/>
              <a:ext cx="5867700" cy="1687200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5"/>
            <p:cNvSpPr/>
            <p:nvPr/>
          </p:nvSpPr>
          <p:spPr>
            <a:xfrm rot="10800000">
              <a:off x="5808794" y="266660"/>
              <a:ext cx="1694400" cy="1684500"/>
            </a:xfrm>
            <a:prstGeom prst="triangle">
              <a:avLst>
                <a:gd name="adj" fmla="val 10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0" name="Google Shape;50;p5"/>
          <p:cNvSpPr txBox="1">
            <a:spLocks noGrp="1"/>
          </p:cNvSpPr>
          <p:nvPr>
            <p:ph type="title"/>
          </p:nvPr>
        </p:nvSpPr>
        <p:spPr>
          <a:xfrm>
            <a:off x="533400" y="277650"/>
            <a:ext cx="6840600" cy="895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5"/>
          <p:cNvSpPr txBox="1">
            <a:spLocks noGrp="1"/>
          </p:cNvSpPr>
          <p:nvPr>
            <p:ph type="body" idx="1"/>
          </p:nvPr>
        </p:nvSpPr>
        <p:spPr>
          <a:xfrm>
            <a:off x="1206100" y="1706200"/>
            <a:ext cx="7026900" cy="30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81000">
              <a:spcBef>
                <a:spcPts val="600"/>
              </a:spcBef>
              <a:spcAft>
                <a:spcPts val="0"/>
              </a:spcAft>
              <a:buSzPts val="2400"/>
              <a:buChar char="⊳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▸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▸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▸"/>
              <a:defRPr/>
            </a:lvl4pPr>
            <a:lvl5pPr marL="2286000" lvl="4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5pPr>
            <a:lvl6pPr marL="2743200" lvl="5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6pPr>
            <a:lvl7pPr marL="3200400" lvl="6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7pPr>
            <a:lvl8pPr marL="3657600" lvl="7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8pPr>
            <a:lvl9pPr marL="4114800" lvl="8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9pPr>
          </a:lstStyle>
          <a:p>
            <a:endParaRPr/>
          </a:p>
        </p:txBody>
      </p:sp>
      <p:sp>
        <p:nvSpPr>
          <p:cNvPr id="52" name="Google Shape;52;p5"/>
          <p:cNvSpPr txBox="1">
            <a:spLocks noGrp="1"/>
          </p:cNvSpPr>
          <p:nvPr>
            <p:ph type="sldNum" idx="12"/>
          </p:nvPr>
        </p:nvSpPr>
        <p:spPr>
          <a:xfrm>
            <a:off x="8543950" y="4612325"/>
            <a:ext cx="485400" cy="531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224157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33400" y="277650"/>
            <a:ext cx="6840600" cy="895800"/>
          </a:xfrm>
          <a:prstGeom prst="rect">
            <a:avLst/>
          </a:prstGeom>
          <a:noFill/>
          <a:ln>
            <a:noFill/>
          </a:ln>
          <a:effectLst>
            <a:outerShdw blurRad="28575" dist="9525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1470125" y="1553800"/>
            <a:ext cx="6915300" cy="30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810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lvl="4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lvl="5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lvl="6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lvl="7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lvl="8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43950" y="4612325"/>
            <a:ext cx="485400" cy="5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lvl="1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lvl="2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lvl="3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lvl="4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lvl="5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lvl="6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lvl="7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lvl="8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8" r:id="rId1"/>
    <p:sldLayoutId id="2147483659" r:id="rId2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1"/>
          <p:cNvSpPr txBox="1">
            <a:spLocks noGrp="1"/>
          </p:cNvSpPr>
          <p:nvPr>
            <p:ph type="ctrTitle"/>
          </p:nvPr>
        </p:nvSpPr>
        <p:spPr>
          <a:xfrm>
            <a:off x="87405" y="0"/>
            <a:ext cx="8639735" cy="105144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accent1">
                    <a:lumMod val="40000"/>
                    <a:lumOff val="60000"/>
                  </a:schemeClr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Kevin</a:t>
            </a:r>
            <a:r>
              <a:rPr lang="ko-KR" altLang="en-US" sz="3200">
                <a:solidFill>
                  <a:schemeClr val="accent1">
                    <a:lumMod val="40000"/>
                    <a:lumOff val="60000"/>
                  </a:schemeClr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의 알기 쉬운 </a:t>
            </a:r>
            <a:endParaRPr sz="3200">
              <a:solidFill>
                <a:schemeClr val="accent1">
                  <a:lumMod val="40000"/>
                  <a:lumOff val="60000"/>
                </a:schemeClr>
              </a:solidFill>
              <a:latin typeface="나눔스퀘어라운드 ExtraBold" panose="020B0600000101010101" charset="-127"/>
              <a:ea typeface="나눔스퀘어라운드 ExtraBold" panose="020B0600000101010101" charset="-127"/>
            </a:endParaRPr>
          </a:p>
        </p:txBody>
      </p:sp>
      <p:sp>
        <p:nvSpPr>
          <p:cNvPr id="4" name="Google Shape;126;p11">
            <a:extLst>
              <a:ext uri="{FF2B5EF4-FFF2-40B4-BE49-F238E27FC236}">
                <a16:creationId xmlns:a16="http://schemas.microsoft.com/office/drawing/2014/main" id="{7014F73D-F994-4842-AC03-FB3329414776}"/>
              </a:ext>
            </a:extLst>
          </p:cNvPr>
          <p:cNvSpPr txBox="1">
            <a:spLocks/>
          </p:cNvSpPr>
          <p:nvPr/>
        </p:nvSpPr>
        <p:spPr>
          <a:xfrm>
            <a:off x="2393157" y="4092060"/>
            <a:ext cx="6750843" cy="1051440"/>
          </a:xfrm>
          <a:prstGeom prst="rect">
            <a:avLst/>
          </a:prstGeom>
          <a:noFill/>
          <a:ln>
            <a:noFill/>
          </a:ln>
          <a:effectLst>
            <a:outerShdw blurRad="28575" dist="9525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pPr algn="l"/>
            <a:r>
              <a:rPr lang="en-US" sz="3200" b="1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나눔스퀘어라운드 ExtraBold" panose="020B0600000101010101" charset="-127"/>
                <a:ea typeface="나눔스퀘어라운드 ExtraBold" panose="020B0600000101010101" charset="-127"/>
              </a:rPr>
              <a:t>Spring Reactive Web Applications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9F15B79C-E878-4CB4-AA38-2CA58A694E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4268" y="114341"/>
            <a:ext cx="2919413" cy="888335"/>
          </a:xfrm>
          <a:prstGeom prst="rect">
            <a:avLst/>
          </a:prstGeom>
        </p:spPr>
      </p:pic>
      <p:pic>
        <p:nvPicPr>
          <p:cNvPr id="11" name="그림 10" descr="실내, 앉아있는, 컴퓨터, 작은이(가) 표시된 사진&#10;&#10;자동 생성된 설명">
            <a:extLst>
              <a:ext uri="{FF2B5EF4-FFF2-40B4-BE49-F238E27FC236}">
                <a16:creationId xmlns:a16="http://schemas.microsoft.com/office/drawing/2014/main" id="{41CBB6E7-9A32-4310-B735-13A43B1EB4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562840"/>
            <a:ext cx="578857" cy="580660"/>
          </a:xfrm>
          <a:prstGeom prst="rect">
            <a:avLst/>
          </a:prstGeom>
        </p:spPr>
      </p:pic>
      <p:sp>
        <p:nvSpPr>
          <p:cNvPr id="2" name="Google Shape;126;p11">
            <a:extLst>
              <a:ext uri="{FF2B5EF4-FFF2-40B4-BE49-F238E27FC236}">
                <a16:creationId xmlns:a16="http://schemas.microsoft.com/office/drawing/2014/main" id="{B154FAC8-F82E-49B1-8799-6998C9411213}"/>
              </a:ext>
            </a:extLst>
          </p:cNvPr>
          <p:cNvSpPr txBox="1">
            <a:spLocks/>
          </p:cNvSpPr>
          <p:nvPr/>
        </p:nvSpPr>
        <p:spPr>
          <a:xfrm>
            <a:off x="665629" y="1117017"/>
            <a:ext cx="7853083" cy="2866047"/>
          </a:xfrm>
          <a:prstGeom prst="rect">
            <a:avLst/>
          </a:prstGeom>
          <a:noFill/>
          <a:ln>
            <a:noFill/>
          </a:ln>
          <a:effectLst>
            <a:outerShdw blurRad="28575" dist="9525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r>
              <a:rPr lang="en-US" altLang="ko-KR" sz="4000" b="1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Scheduler</a:t>
            </a:r>
            <a:r>
              <a:rPr lang="ko-KR" altLang="en-US" sz="40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 </a:t>
            </a:r>
            <a:endParaRPr lang="en-US" altLang="ko-KR" sz="400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6"/>
          <p:cNvSpPr txBox="1">
            <a:spLocks noGrp="1"/>
          </p:cNvSpPr>
          <p:nvPr>
            <p:ph type="title"/>
          </p:nvPr>
        </p:nvSpPr>
        <p:spPr>
          <a:xfrm>
            <a:off x="503695" y="277650"/>
            <a:ext cx="7221640" cy="895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Scheduler</a:t>
            </a:r>
            <a:r>
              <a:rPr lang="ko-KR" altLang="en-US" sz="2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를 위한 전용 </a:t>
            </a:r>
            <a:r>
              <a:rPr lang="en-US" altLang="ko-KR" sz="2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Operator</a:t>
            </a:r>
            <a:endParaRPr sz="240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3" name="Google Shape;168;p16">
            <a:extLst>
              <a:ext uri="{FF2B5EF4-FFF2-40B4-BE49-F238E27FC236}">
                <a16:creationId xmlns:a16="http://schemas.microsoft.com/office/drawing/2014/main" id="{5775B658-7B74-4565-A07F-D26FC0BBAC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06100" y="1595918"/>
            <a:ext cx="7465202" cy="654728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ko-KR" altLang="en-US" sz="1600" b="1" dirty="0">
                <a:latin typeface="나눔스퀘어라운드 ExtraBold" panose="020B0600000101010101" charset="-127"/>
                <a:ea typeface="나눔스퀘어라운드 ExtraBold" panose="020B0600000101010101" charset="-127"/>
              </a:rPr>
              <a:t> </a:t>
            </a:r>
            <a:r>
              <a:rPr lang="en-US" altLang="ko-KR" sz="1600" b="1" dirty="0" err="1">
                <a:solidFill>
                  <a:srgbClr val="0070C0"/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publishOn</a:t>
            </a:r>
            <a:r>
              <a:rPr lang="en-US" altLang="ko-KR" sz="1600" b="1" dirty="0">
                <a:solidFill>
                  <a:srgbClr val="0070C0"/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( )</a:t>
            </a:r>
            <a:r>
              <a:rPr lang="en-US" altLang="ko-KR" sz="1600" b="1" dirty="0">
                <a:latin typeface="나눔스퀘어라운드 ExtraBold" panose="020B0600000101010101" charset="-127"/>
                <a:ea typeface="나눔스퀘어라운드 ExtraBold" panose="020B0600000101010101" charset="-127"/>
              </a:rPr>
              <a:t>: Operator </a:t>
            </a:r>
            <a:r>
              <a:rPr lang="ko-KR" altLang="en-US" sz="1600" b="1" dirty="0">
                <a:latin typeface="나눔스퀘어라운드 ExtraBold" panose="020B0600000101010101" charset="-127"/>
                <a:ea typeface="나눔스퀘어라운드 ExtraBold" panose="020B0600000101010101" charset="-127"/>
              </a:rPr>
              <a:t>체인에서 </a:t>
            </a:r>
            <a:r>
              <a:rPr lang="en-US" altLang="ko-KR" sz="1600" b="1" dirty="0">
                <a:latin typeface="나눔스퀘어라운드 ExtraBold" panose="020B0600000101010101" charset="-127"/>
                <a:ea typeface="나눔스퀘어라운드 ExtraBold" panose="020B0600000101010101" charset="-127"/>
              </a:rPr>
              <a:t>Downstream Operator</a:t>
            </a:r>
            <a:r>
              <a:rPr lang="ko-KR" altLang="en-US" sz="1600" b="1" dirty="0">
                <a:latin typeface="나눔스퀘어라운드 ExtraBold" panose="020B0600000101010101" charset="-127"/>
                <a:ea typeface="나눔스퀘어라운드 ExtraBold" panose="020B0600000101010101" charset="-127"/>
              </a:rPr>
              <a:t>의 실행을 위한 쓰레드를 지정한다</a:t>
            </a:r>
            <a:r>
              <a:rPr lang="en-US" altLang="ko-KR" sz="1600" b="1" dirty="0">
                <a:latin typeface="나눔스퀘어라운드 ExtraBold" panose="020B0600000101010101" charset="-127"/>
                <a:ea typeface="나눔스퀘어라운드 ExtraBold" panose="020B0600000101010101" charset="-127"/>
              </a:rPr>
              <a:t>.</a:t>
            </a:r>
          </a:p>
        </p:txBody>
      </p:sp>
      <p:sp>
        <p:nvSpPr>
          <p:cNvPr id="96" name="Google Shape;168;p16">
            <a:extLst>
              <a:ext uri="{FF2B5EF4-FFF2-40B4-BE49-F238E27FC236}">
                <a16:creationId xmlns:a16="http://schemas.microsoft.com/office/drawing/2014/main" id="{162EBBDC-AC47-4789-957F-3C204B908853}"/>
              </a:ext>
            </a:extLst>
          </p:cNvPr>
          <p:cNvSpPr txBox="1">
            <a:spLocks/>
          </p:cNvSpPr>
          <p:nvPr/>
        </p:nvSpPr>
        <p:spPr>
          <a:xfrm>
            <a:off x="1206100" y="2490508"/>
            <a:ext cx="7465202" cy="962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r>
              <a:rPr lang="en-US" altLang="ko-KR" sz="1600" b="1" dirty="0" err="1">
                <a:solidFill>
                  <a:srgbClr val="0070C0"/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subscribeOn</a:t>
            </a:r>
            <a:r>
              <a:rPr lang="en-US" altLang="ko-KR" sz="1600" b="1" dirty="0">
                <a:solidFill>
                  <a:srgbClr val="0070C0"/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( )</a:t>
            </a:r>
            <a:r>
              <a:rPr lang="en-US" altLang="ko-KR" sz="1600" b="1" dirty="0">
                <a:latin typeface="나눔스퀘어라운드 ExtraBold" panose="020B0600000101010101" charset="-127"/>
                <a:ea typeface="나눔스퀘어라운드 ExtraBold" panose="020B0600000101010101" charset="-127"/>
              </a:rPr>
              <a:t>: </a:t>
            </a:r>
            <a:r>
              <a:rPr lang="ko-KR" altLang="en-US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최상위 </a:t>
            </a:r>
            <a:r>
              <a:rPr lang="en-US" altLang="ko-KR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Upstream Publisher</a:t>
            </a:r>
            <a:r>
              <a:rPr lang="ko-KR" altLang="en-US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의 </a:t>
            </a:r>
            <a:r>
              <a:rPr lang="ko-KR" altLang="en-US" sz="1600" b="1" dirty="0">
                <a:latin typeface="나눔스퀘어라운드 ExtraBold" panose="020B0600000101010101" charset="-127"/>
                <a:ea typeface="나눔스퀘어라운드 ExtraBold" panose="020B0600000101010101" charset="-127"/>
              </a:rPr>
              <a:t>실행을 위한 쓰레드를 지정한다</a:t>
            </a:r>
            <a:r>
              <a:rPr lang="en-US" altLang="ko-KR" sz="1600" b="1" dirty="0">
                <a:latin typeface="나눔스퀘어라운드 ExtraBold" panose="020B0600000101010101" charset="-127"/>
                <a:ea typeface="나눔스퀘어라운드 ExtraBold" panose="020B0600000101010101" charset="-127"/>
              </a:rPr>
              <a:t>.</a:t>
            </a:r>
            <a:r>
              <a:rPr lang="ko-KR" altLang="en-US" sz="1600" b="1" dirty="0">
                <a:latin typeface="나눔스퀘어라운드 ExtraBold" panose="020B0600000101010101" charset="-127"/>
                <a:ea typeface="나눔스퀘어라운드 ExtraBold" panose="020B0600000101010101" charset="-127"/>
              </a:rPr>
              <a:t> 즉</a:t>
            </a:r>
            <a:r>
              <a:rPr lang="en-US" altLang="ko-KR" sz="1600" b="1" dirty="0">
                <a:latin typeface="나눔스퀘어라운드 ExtraBold" panose="020B0600000101010101" charset="-127"/>
                <a:ea typeface="나눔스퀘어라운드 ExtraBold" panose="020B0600000101010101" charset="-127"/>
              </a:rPr>
              <a:t>, </a:t>
            </a:r>
            <a:r>
              <a:rPr lang="ko-KR" altLang="en-US" sz="1600" b="1" dirty="0">
                <a:latin typeface="나눔스퀘어라운드 ExtraBold" panose="020B0600000101010101" charset="-127"/>
                <a:ea typeface="나눔스퀘어라운드 ExtraBold" panose="020B0600000101010101" charset="-127"/>
              </a:rPr>
              <a:t>원본 데이터 소스를</a:t>
            </a:r>
            <a:r>
              <a:rPr lang="en-US" altLang="ko-KR" sz="1600" b="1" dirty="0">
                <a:latin typeface="나눔스퀘어라운드 ExtraBold" panose="020B0600000101010101" charset="-127"/>
                <a:ea typeface="나눔스퀘어라운드 ExtraBold" panose="020B0600000101010101" charset="-127"/>
              </a:rPr>
              <a:t> emit </a:t>
            </a:r>
            <a:r>
              <a:rPr lang="ko-KR" altLang="en-US" sz="1600" b="1" dirty="0">
                <a:latin typeface="나눔스퀘어라운드 ExtraBold" panose="020B0600000101010101" charset="-127"/>
                <a:ea typeface="나눔스퀘어라운드 ExtraBold" panose="020B0600000101010101" charset="-127"/>
              </a:rPr>
              <a:t>하기 위한 스케줄러를 지정한다</a:t>
            </a:r>
            <a:r>
              <a:rPr lang="en-US" altLang="ko-KR" sz="1600" b="1" dirty="0">
                <a:latin typeface="나눔스퀘어라운드 ExtraBold" panose="020B0600000101010101" charset="-127"/>
                <a:ea typeface="나눔스퀘어라운드 ExtraBold" panose="020B0600000101010101" charset="-127"/>
              </a:rPr>
              <a:t>.</a:t>
            </a:r>
          </a:p>
        </p:txBody>
      </p:sp>
      <p:sp>
        <p:nvSpPr>
          <p:cNvPr id="6" name="Google Shape;168;p16">
            <a:extLst>
              <a:ext uri="{FF2B5EF4-FFF2-40B4-BE49-F238E27FC236}">
                <a16:creationId xmlns:a16="http://schemas.microsoft.com/office/drawing/2014/main" id="{041E9D14-1CD5-4561-A1EC-08C41394C833}"/>
              </a:ext>
            </a:extLst>
          </p:cNvPr>
          <p:cNvSpPr txBox="1">
            <a:spLocks/>
          </p:cNvSpPr>
          <p:nvPr/>
        </p:nvSpPr>
        <p:spPr>
          <a:xfrm>
            <a:off x="1206100" y="3452727"/>
            <a:ext cx="7465202" cy="7272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r>
              <a:rPr lang="en-US" altLang="ko-KR" sz="1600" b="1">
                <a:solidFill>
                  <a:srgbClr val="0070C0"/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parallel( )</a:t>
            </a:r>
            <a:r>
              <a:rPr lang="en-US" altLang="ko-KR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: Downstream</a:t>
            </a:r>
            <a:r>
              <a:rPr lang="ko-KR" altLang="en-US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에 대한 데이터 처리를 병렬로 분할 처리하기 위한 쓰레드를 지정한다</a:t>
            </a:r>
            <a:r>
              <a:rPr lang="en-US" altLang="ko-KR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.</a:t>
            </a:r>
            <a:r>
              <a:rPr lang="ko-KR" altLang="en-US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 </a:t>
            </a:r>
            <a:endParaRPr lang="en-US" altLang="ko-KR" sz="1600" b="1">
              <a:latin typeface="나눔스퀘어라운드 ExtraBold" panose="020B0600000101010101" charset="-127"/>
              <a:ea typeface="나눔스퀘어라운드 ExtraBold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184937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96" grpId="0" uiExpand="1" build="p"/>
      <p:bldP spid="6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6"/>
          <p:cNvSpPr txBox="1">
            <a:spLocks noGrp="1"/>
          </p:cNvSpPr>
          <p:nvPr>
            <p:ph type="title"/>
          </p:nvPr>
        </p:nvSpPr>
        <p:spPr>
          <a:xfrm>
            <a:off x="503695" y="277650"/>
            <a:ext cx="7221640" cy="895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ParallelFlux</a:t>
            </a:r>
            <a:r>
              <a:rPr lang="ko-KR" altLang="en-US" sz="2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의 동작 방식</a:t>
            </a:r>
            <a:endParaRPr sz="240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DCFA8FD-6A76-B470-F6B7-F371F1CE3C13}"/>
              </a:ext>
            </a:extLst>
          </p:cNvPr>
          <p:cNvSpPr/>
          <p:nvPr/>
        </p:nvSpPr>
        <p:spPr>
          <a:xfrm>
            <a:off x="3578658" y="1984189"/>
            <a:ext cx="1124911" cy="269715"/>
          </a:xfrm>
          <a:prstGeom prst="rect">
            <a:avLst/>
          </a:prstGeom>
          <a:solidFill>
            <a:srgbClr val="996633"/>
          </a:solidFill>
          <a:ln w="158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/>
              <a:t>분할된 워크로드</a:t>
            </a:r>
            <a:r>
              <a:rPr lang="en-US" altLang="ko-KR" sz="900"/>
              <a:t>1</a:t>
            </a:r>
            <a:endParaRPr lang="ko-KR" altLang="en-US" sz="90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365F271-E7AD-3ECB-C808-39E11AFF6BF1}"/>
              </a:ext>
            </a:extLst>
          </p:cNvPr>
          <p:cNvSpPr/>
          <p:nvPr/>
        </p:nvSpPr>
        <p:spPr>
          <a:xfrm>
            <a:off x="4841715" y="1984189"/>
            <a:ext cx="1124911" cy="269715"/>
          </a:xfrm>
          <a:prstGeom prst="rect">
            <a:avLst/>
          </a:prstGeom>
          <a:solidFill>
            <a:srgbClr val="996633"/>
          </a:solidFill>
          <a:ln w="158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/>
              <a:t>분할된 워크로드</a:t>
            </a:r>
            <a:r>
              <a:rPr lang="en-US" altLang="ko-KR" sz="900"/>
              <a:t>2</a:t>
            </a:r>
            <a:endParaRPr lang="ko-KR" altLang="en-US" sz="90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2227D5E-9E08-AC03-7E59-0A70888A5E8C}"/>
              </a:ext>
            </a:extLst>
          </p:cNvPr>
          <p:cNvSpPr/>
          <p:nvPr/>
        </p:nvSpPr>
        <p:spPr>
          <a:xfrm>
            <a:off x="6104772" y="1984189"/>
            <a:ext cx="1124911" cy="269715"/>
          </a:xfrm>
          <a:prstGeom prst="rect">
            <a:avLst/>
          </a:prstGeom>
          <a:solidFill>
            <a:srgbClr val="996633"/>
          </a:solidFill>
          <a:ln w="158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/>
              <a:t>분할된 워크로드</a:t>
            </a:r>
            <a:r>
              <a:rPr lang="en-US" altLang="ko-KR" sz="900"/>
              <a:t>3</a:t>
            </a:r>
            <a:endParaRPr lang="ko-KR" altLang="en-US" sz="900"/>
          </a:p>
        </p:txBody>
      </p:sp>
      <p:sp>
        <p:nvSpPr>
          <p:cNvPr id="64" name="왼쪽 중괄호 63">
            <a:extLst>
              <a:ext uri="{FF2B5EF4-FFF2-40B4-BE49-F238E27FC236}">
                <a16:creationId xmlns:a16="http://schemas.microsoft.com/office/drawing/2014/main" id="{31807950-D506-B9AA-911B-396178E0E6E8}"/>
              </a:ext>
            </a:extLst>
          </p:cNvPr>
          <p:cNvSpPr/>
          <p:nvPr/>
        </p:nvSpPr>
        <p:spPr>
          <a:xfrm>
            <a:off x="3210265" y="1984189"/>
            <a:ext cx="164133" cy="269715"/>
          </a:xfrm>
          <a:prstGeom prst="leftBrace">
            <a:avLst/>
          </a:prstGeom>
          <a:ln>
            <a:solidFill>
              <a:srgbClr val="6699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8" name="그룹 67">
            <a:extLst>
              <a:ext uri="{FF2B5EF4-FFF2-40B4-BE49-F238E27FC236}">
                <a16:creationId xmlns:a16="http://schemas.microsoft.com/office/drawing/2014/main" id="{3E3362CA-4212-AB2C-0E7D-614589739C77}"/>
              </a:ext>
            </a:extLst>
          </p:cNvPr>
          <p:cNvGrpSpPr/>
          <p:nvPr/>
        </p:nvGrpSpPr>
        <p:grpSpPr>
          <a:xfrm>
            <a:off x="1857935" y="1440320"/>
            <a:ext cx="5371747" cy="283225"/>
            <a:chOff x="2792070" y="1440320"/>
            <a:chExt cx="5371747" cy="283225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8CFD6C2D-6220-B32D-9D17-3458209727E0}"/>
                </a:ext>
              </a:extLst>
            </p:cNvPr>
            <p:cNvSpPr/>
            <p:nvPr/>
          </p:nvSpPr>
          <p:spPr>
            <a:xfrm>
              <a:off x="4512792" y="1453830"/>
              <a:ext cx="3651025" cy="269715"/>
            </a:xfrm>
            <a:prstGeom prst="rect">
              <a:avLst/>
            </a:prstGeom>
            <a:solidFill>
              <a:srgbClr val="6699FF"/>
            </a:solidFill>
            <a:ln w="158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/>
                <a:t>워크로드</a:t>
              </a:r>
              <a:r>
                <a:rPr lang="en-US" altLang="ko-KR"/>
                <a:t>(Workload)</a:t>
              </a:r>
              <a:endParaRPr lang="ko-KR" altLang="en-US"/>
            </a:p>
          </p:txBody>
        </p:sp>
        <p:sp>
          <p:nvSpPr>
            <p:cNvPr id="63" name="왼쪽 중괄호 62">
              <a:extLst>
                <a:ext uri="{FF2B5EF4-FFF2-40B4-BE49-F238E27FC236}">
                  <a16:creationId xmlns:a16="http://schemas.microsoft.com/office/drawing/2014/main" id="{218A0B2B-840B-A30A-30C6-D96B7C5AC199}"/>
                </a:ext>
              </a:extLst>
            </p:cNvPr>
            <p:cNvSpPr/>
            <p:nvPr/>
          </p:nvSpPr>
          <p:spPr>
            <a:xfrm>
              <a:off x="4144400" y="1453830"/>
              <a:ext cx="164133" cy="269715"/>
            </a:xfrm>
            <a:prstGeom prst="leftBrace">
              <a:avLst/>
            </a:prstGeom>
            <a:ln>
              <a:solidFill>
                <a:srgbClr val="6699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1EC15A4E-1490-C76A-801B-0817FA3B8709}"/>
                </a:ext>
              </a:extLst>
            </p:cNvPr>
            <p:cNvSpPr txBox="1"/>
            <p:nvPr/>
          </p:nvSpPr>
          <p:spPr>
            <a:xfrm>
              <a:off x="2792070" y="1440320"/>
              <a:ext cx="114807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ko-KR" sz="1200">
                  <a:latin typeface="+mj-ea"/>
                  <a:ea typeface="+mj-ea"/>
                </a:rPr>
                <a:t>Flux.parallel( )</a:t>
              </a:r>
              <a:endParaRPr lang="ko-KR" altLang="en-US" sz="1200">
                <a:latin typeface="+mj-ea"/>
                <a:ea typeface="+mj-ea"/>
              </a:endParaRPr>
            </a:p>
          </p:txBody>
        </p:sp>
      </p:grpSp>
      <p:sp>
        <p:nvSpPr>
          <p:cNvPr id="66" name="TextBox 65">
            <a:extLst>
              <a:ext uri="{FF2B5EF4-FFF2-40B4-BE49-F238E27FC236}">
                <a16:creationId xmlns:a16="http://schemas.microsoft.com/office/drawing/2014/main" id="{DC9B490F-77D2-3506-2BE5-87EA99926FA4}"/>
              </a:ext>
            </a:extLst>
          </p:cNvPr>
          <p:cNvSpPr txBox="1"/>
          <p:nvPr/>
        </p:nvSpPr>
        <p:spPr>
          <a:xfrm>
            <a:off x="855192" y="1970326"/>
            <a:ext cx="21508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>
                <a:solidFill>
                  <a:srgbClr val="FF0000"/>
                </a:solidFill>
                <a:latin typeface="+mj-ea"/>
                <a:ea typeface="+mj-ea"/>
              </a:rPr>
              <a:t>ParallelFlux</a:t>
            </a:r>
            <a:r>
              <a:rPr lang="en-US" altLang="ko-KR" sz="1200">
                <a:latin typeface="+mj-ea"/>
                <a:ea typeface="+mj-ea"/>
              </a:rPr>
              <a:t>.runOn(Scheduler)</a:t>
            </a:r>
            <a:endParaRPr lang="ko-KR" altLang="en-US" sz="1200">
              <a:latin typeface="+mj-ea"/>
              <a:ea typeface="+mj-ea"/>
            </a:endParaRPr>
          </a:p>
        </p:txBody>
      </p:sp>
      <p:grpSp>
        <p:nvGrpSpPr>
          <p:cNvPr id="72" name="그룹 71">
            <a:extLst>
              <a:ext uri="{FF2B5EF4-FFF2-40B4-BE49-F238E27FC236}">
                <a16:creationId xmlns:a16="http://schemas.microsoft.com/office/drawing/2014/main" id="{952AC5DF-5EE0-0631-F871-BEE7CC0C2720}"/>
              </a:ext>
            </a:extLst>
          </p:cNvPr>
          <p:cNvGrpSpPr/>
          <p:nvPr/>
        </p:nvGrpSpPr>
        <p:grpSpPr>
          <a:xfrm>
            <a:off x="1618292" y="2361654"/>
            <a:ext cx="5611392" cy="2059041"/>
            <a:chOff x="1618292" y="2361654"/>
            <a:chExt cx="5611392" cy="2059041"/>
          </a:xfrm>
        </p:grpSpPr>
        <p:grpSp>
          <p:nvGrpSpPr>
            <p:cNvPr id="32" name="그룹 31">
              <a:extLst>
                <a:ext uri="{FF2B5EF4-FFF2-40B4-BE49-F238E27FC236}">
                  <a16:creationId xmlns:a16="http://schemas.microsoft.com/office/drawing/2014/main" id="{CA43D647-D4DA-2C7C-D49A-68E5A9247D8E}"/>
                </a:ext>
              </a:extLst>
            </p:cNvPr>
            <p:cNvGrpSpPr/>
            <p:nvPr/>
          </p:nvGrpSpPr>
          <p:grpSpPr>
            <a:xfrm>
              <a:off x="3578657" y="2361654"/>
              <a:ext cx="1124912" cy="2059041"/>
              <a:chOff x="4512792" y="2361654"/>
              <a:chExt cx="1124912" cy="2059041"/>
            </a:xfrm>
          </p:grpSpPr>
          <p:cxnSp>
            <p:nvCxnSpPr>
              <p:cNvPr id="13" name="직선 연결선 12">
                <a:extLst>
                  <a:ext uri="{FF2B5EF4-FFF2-40B4-BE49-F238E27FC236}">
                    <a16:creationId xmlns:a16="http://schemas.microsoft.com/office/drawing/2014/main" id="{345B4B74-2DC4-3F54-F046-7EE2E13B3342}"/>
                  </a:ext>
                </a:extLst>
              </p:cNvPr>
              <p:cNvCxnSpPr/>
              <p:nvPr/>
            </p:nvCxnSpPr>
            <p:spPr>
              <a:xfrm>
                <a:off x="4512792" y="2361654"/>
                <a:ext cx="1124912" cy="0"/>
              </a:xfrm>
              <a:prstGeom prst="line">
                <a:avLst/>
              </a:prstGeom>
              <a:ln w="12700">
                <a:solidFill>
                  <a:schemeClr val="bg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직선 연결선 13">
                <a:extLst>
                  <a:ext uri="{FF2B5EF4-FFF2-40B4-BE49-F238E27FC236}">
                    <a16:creationId xmlns:a16="http://schemas.microsoft.com/office/drawing/2014/main" id="{A3BBD3F1-5A3D-F055-37BD-2A3592BF830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28558" y="2361654"/>
                <a:ext cx="0" cy="2059041"/>
              </a:xfrm>
              <a:prstGeom prst="line">
                <a:avLst/>
              </a:prstGeom>
              <a:ln w="12700">
                <a:solidFill>
                  <a:schemeClr val="bg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직선 연결선 17">
                <a:extLst>
                  <a:ext uri="{FF2B5EF4-FFF2-40B4-BE49-F238E27FC236}">
                    <a16:creationId xmlns:a16="http://schemas.microsoft.com/office/drawing/2014/main" id="{AC1D6593-FB4F-B4A1-351D-66EB455E69D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269312" y="2361654"/>
                <a:ext cx="0" cy="2059041"/>
              </a:xfrm>
              <a:prstGeom prst="line">
                <a:avLst/>
              </a:prstGeom>
              <a:ln w="12700">
                <a:solidFill>
                  <a:schemeClr val="bg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직선 연결선 18">
                <a:extLst>
                  <a:ext uri="{FF2B5EF4-FFF2-40B4-BE49-F238E27FC236}">
                    <a16:creationId xmlns:a16="http://schemas.microsoft.com/office/drawing/2014/main" id="{730C62A1-C615-6800-8B3F-93990F767AC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28558" y="2558595"/>
                <a:ext cx="440754" cy="0"/>
              </a:xfrm>
              <a:prstGeom prst="line">
                <a:avLst/>
              </a:prstGeom>
              <a:ln w="12700">
                <a:solidFill>
                  <a:schemeClr val="bg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직선 연결선 23">
                <a:extLst>
                  <a:ext uri="{FF2B5EF4-FFF2-40B4-BE49-F238E27FC236}">
                    <a16:creationId xmlns:a16="http://schemas.microsoft.com/office/drawing/2014/main" id="{3D0D3826-2EA7-8030-035A-427EFF9784E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28558" y="2777327"/>
                <a:ext cx="440754" cy="0"/>
              </a:xfrm>
              <a:prstGeom prst="line">
                <a:avLst/>
              </a:prstGeom>
              <a:ln w="12700">
                <a:solidFill>
                  <a:schemeClr val="bg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직선 연결선 24">
                <a:extLst>
                  <a:ext uri="{FF2B5EF4-FFF2-40B4-BE49-F238E27FC236}">
                    <a16:creationId xmlns:a16="http://schemas.microsoft.com/office/drawing/2014/main" id="{EE03DF61-2AAA-B946-6AAD-0B91942193A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28558" y="2996059"/>
                <a:ext cx="440754" cy="0"/>
              </a:xfrm>
              <a:prstGeom prst="line">
                <a:avLst/>
              </a:prstGeom>
              <a:ln w="12700">
                <a:solidFill>
                  <a:schemeClr val="bg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직선 연결선 25">
                <a:extLst>
                  <a:ext uri="{FF2B5EF4-FFF2-40B4-BE49-F238E27FC236}">
                    <a16:creationId xmlns:a16="http://schemas.microsoft.com/office/drawing/2014/main" id="{4DE43B34-B222-A63E-F785-7078CE183AB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28558" y="3214791"/>
                <a:ext cx="440754" cy="0"/>
              </a:xfrm>
              <a:prstGeom prst="line">
                <a:avLst/>
              </a:prstGeom>
              <a:ln w="12700">
                <a:solidFill>
                  <a:schemeClr val="bg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직선 연결선 26">
                <a:extLst>
                  <a:ext uri="{FF2B5EF4-FFF2-40B4-BE49-F238E27FC236}">
                    <a16:creationId xmlns:a16="http://schemas.microsoft.com/office/drawing/2014/main" id="{F0CEE786-5600-9178-5591-724FA3C581C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28558" y="3433523"/>
                <a:ext cx="440754" cy="0"/>
              </a:xfrm>
              <a:prstGeom prst="line">
                <a:avLst/>
              </a:prstGeom>
              <a:ln w="12700">
                <a:solidFill>
                  <a:schemeClr val="bg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직선 연결선 27">
                <a:extLst>
                  <a:ext uri="{FF2B5EF4-FFF2-40B4-BE49-F238E27FC236}">
                    <a16:creationId xmlns:a16="http://schemas.microsoft.com/office/drawing/2014/main" id="{22BABD49-D1ED-E650-7D98-23A428360C3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28558" y="3652255"/>
                <a:ext cx="440754" cy="0"/>
              </a:xfrm>
              <a:prstGeom prst="line">
                <a:avLst/>
              </a:prstGeom>
              <a:ln w="12700">
                <a:solidFill>
                  <a:schemeClr val="bg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직선 연결선 28">
                <a:extLst>
                  <a:ext uri="{FF2B5EF4-FFF2-40B4-BE49-F238E27FC236}">
                    <a16:creationId xmlns:a16="http://schemas.microsoft.com/office/drawing/2014/main" id="{50E6FC78-5807-2D46-200A-F43B2082E7B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28558" y="3870987"/>
                <a:ext cx="440754" cy="0"/>
              </a:xfrm>
              <a:prstGeom prst="line">
                <a:avLst/>
              </a:prstGeom>
              <a:ln w="12700">
                <a:solidFill>
                  <a:schemeClr val="bg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직선 연결선 29">
                <a:extLst>
                  <a:ext uri="{FF2B5EF4-FFF2-40B4-BE49-F238E27FC236}">
                    <a16:creationId xmlns:a16="http://schemas.microsoft.com/office/drawing/2014/main" id="{38E8A84C-8209-E398-A905-F12CE7E0B48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28558" y="4089719"/>
                <a:ext cx="440754" cy="0"/>
              </a:xfrm>
              <a:prstGeom prst="line">
                <a:avLst/>
              </a:prstGeom>
              <a:ln w="12700">
                <a:solidFill>
                  <a:schemeClr val="bg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직선 연결선 30">
                <a:extLst>
                  <a:ext uri="{FF2B5EF4-FFF2-40B4-BE49-F238E27FC236}">
                    <a16:creationId xmlns:a16="http://schemas.microsoft.com/office/drawing/2014/main" id="{97D1E28E-3C54-B5F1-3024-1E9EAD820BA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28558" y="4308453"/>
                <a:ext cx="440754" cy="0"/>
              </a:xfrm>
              <a:prstGeom prst="line">
                <a:avLst/>
              </a:prstGeom>
              <a:ln w="12700">
                <a:solidFill>
                  <a:schemeClr val="bg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3" name="그룹 32">
              <a:extLst>
                <a:ext uri="{FF2B5EF4-FFF2-40B4-BE49-F238E27FC236}">
                  <a16:creationId xmlns:a16="http://schemas.microsoft.com/office/drawing/2014/main" id="{6EB21449-BDB2-B647-6A7F-1D76F77C4C2A}"/>
                </a:ext>
              </a:extLst>
            </p:cNvPr>
            <p:cNvGrpSpPr/>
            <p:nvPr/>
          </p:nvGrpSpPr>
          <p:grpSpPr>
            <a:xfrm>
              <a:off x="4841715" y="2361654"/>
              <a:ext cx="1124912" cy="2059041"/>
              <a:chOff x="4512792" y="2361654"/>
              <a:chExt cx="1124912" cy="2059041"/>
            </a:xfrm>
          </p:grpSpPr>
          <p:cxnSp>
            <p:nvCxnSpPr>
              <p:cNvPr id="34" name="직선 연결선 33">
                <a:extLst>
                  <a:ext uri="{FF2B5EF4-FFF2-40B4-BE49-F238E27FC236}">
                    <a16:creationId xmlns:a16="http://schemas.microsoft.com/office/drawing/2014/main" id="{D759E0FF-D53A-6525-34C5-CF836F8AF583}"/>
                  </a:ext>
                </a:extLst>
              </p:cNvPr>
              <p:cNvCxnSpPr/>
              <p:nvPr/>
            </p:nvCxnSpPr>
            <p:spPr>
              <a:xfrm>
                <a:off x="4512792" y="2361654"/>
                <a:ext cx="1124912" cy="0"/>
              </a:xfrm>
              <a:prstGeom prst="line">
                <a:avLst/>
              </a:prstGeom>
              <a:ln w="12700">
                <a:solidFill>
                  <a:schemeClr val="bg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직선 연결선 34">
                <a:extLst>
                  <a:ext uri="{FF2B5EF4-FFF2-40B4-BE49-F238E27FC236}">
                    <a16:creationId xmlns:a16="http://schemas.microsoft.com/office/drawing/2014/main" id="{9E08A4C1-FF44-8541-49E4-E92F1F865A8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28558" y="2361654"/>
                <a:ext cx="0" cy="2059041"/>
              </a:xfrm>
              <a:prstGeom prst="line">
                <a:avLst/>
              </a:prstGeom>
              <a:ln w="12700">
                <a:solidFill>
                  <a:schemeClr val="bg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직선 연결선 35">
                <a:extLst>
                  <a:ext uri="{FF2B5EF4-FFF2-40B4-BE49-F238E27FC236}">
                    <a16:creationId xmlns:a16="http://schemas.microsoft.com/office/drawing/2014/main" id="{1034A838-474D-0A2E-4916-33D627473BD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269312" y="2361654"/>
                <a:ext cx="0" cy="2059041"/>
              </a:xfrm>
              <a:prstGeom prst="line">
                <a:avLst/>
              </a:prstGeom>
              <a:ln w="12700">
                <a:solidFill>
                  <a:schemeClr val="bg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직선 연결선 36">
                <a:extLst>
                  <a:ext uri="{FF2B5EF4-FFF2-40B4-BE49-F238E27FC236}">
                    <a16:creationId xmlns:a16="http://schemas.microsoft.com/office/drawing/2014/main" id="{A75579DB-7EC3-B604-183C-9AFA0676667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28558" y="2558595"/>
                <a:ext cx="440754" cy="0"/>
              </a:xfrm>
              <a:prstGeom prst="line">
                <a:avLst/>
              </a:prstGeom>
              <a:ln w="12700">
                <a:solidFill>
                  <a:schemeClr val="bg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직선 연결선 37">
                <a:extLst>
                  <a:ext uri="{FF2B5EF4-FFF2-40B4-BE49-F238E27FC236}">
                    <a16:creationId xmlns:a16="http://schemas.microsoft.com/office/drawing/2014/main" id="{DE17A5C1-E41D-5621-582C-C10746D6069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28558" y="2777327"/>
                <a:ext cx="440754" cy="0"/>
              </a:xfrm>
              <a:prstGeom prst="line">
                <a:avLst/>
              </a:prstGeom>
              <a:ln w="12700">
                <a:solidFill>
                  <a:schemeClr val="bg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직선 연결선 38">
                <a:extLst>
                  <a:ext uri="{FF2B5EF4-FFF2-40B4-BE49-F238E27FC236}">
                    <a16:creationId xmlns:a16="http://schemas.microsoft.com/office/drawing/2014/main" id="{1EC6849F-0B13-731F-6348-34DE95779F0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28558" y="2996059"/>
                <a:ext cx="440754" cy="0"/>
              </a:xfrm>
              <a:prstGeom prst="line">
                <a:avLst/>
              </a:prstGeom>
              <a:ln w="12700">
                <a:solidFill>
                  <a:schemeClr val="bg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직선 연결선 39">
                <a:extLst>
                  <a:ext uri="{FF2B5EF4-FFF2-40B4-BE49-F238E27FC236}">
                    <a16:creationId xmlns:a16="http://schemas.microsoft.com/office/drawing/2014/main" id="{427BB3E2-3F43-B579-6A13-D7A0B277B1C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28558" y="3214791"/>
                <a:ext cx="440754" cy="0"/>
              </a:xfrm>
              <a:prstGeom prst="line">
                <a:avLst/>
              </a:prstGeom>
              <a:ln w="12700">
                <a:solidFill>
                  <a:schemeClr val="bg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직선 연결선 40">
                <a:extLst>
                  <a:ext uri="{FF2B5EF4-FFF2-40B4-BE49-F238E27FC236}">
                    <a16:creationId xmlns:a16="http://schemas.microsoft.com/office/drawing/2014/main" id="{A5CCAC40-9659-DA14-9ACF-5BA6264C46C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28558" y="3433523"/>
                <a:ext cx="440754" cy="0"/>
              </a:xfrm>
              <a:prstGeom prst="line">
                <a:avLst/>
              </a:prstGeom>
              <a:ln w="12700">
                <a:solidFill>
                  <a:schemeClr val="bg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직선 연결선 41">
                <a:extLst>
                  <a:ext uri="{FF2B5EF4-FFF2-40B4-BE49-F238E27FC236}">
                    <a16:creationId xmlns:a16="http://schemas.microsoft.com/office/drawing/2014/main" id="{5A19B2E7-7EAF-7337-C76C-C1105BBD1A1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28558" y="3652255"/>
                <a:ext cx="440754" cy="0"/>
              </a:xfrm>
              <a:prstGeom prst="line">
                <a:avLst/>
              </a:prstGeom>
              <a:ln w="12700">
                <a:solidFill>
                  <a:schemeClr val="bg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직선 연결선 42">
                <a:extLst>
                  <a:ext uri="{FF2B5EF4-FFF2-40B4-BE49-F238E27FC236}">
                    <a16:creationId xmlns:a16="http://schemas.microsoft.com/office/drawing/2014/main" id="{8E06445D-17FD-64E2-CC6E-88856514A41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28558" y="3870987"/>
                <a:ext cx="440754" cy="0"/>
              </a:xfrm>
              <a:prstGeom prst="line">
                <a:avLst/>
              </a:prstGeom>
              <a:ln w="12700">
                <a:solidFill>
                  <a:schemeClr val="bg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직선 연결선 43">
                <a:extLst>
                  <a:ext uri="{FF2B5EF4-FFF2-40B4-BE49-F238E27FC236}">
                    <a16:creationId xmlns:a16="http://schemas.microsoft.com/office/drawing/2014/main" id="{F668419B-8409-8E5F-EEC8-2D25056371B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28558" y="4089719"/>
                <a:ext cx="440754" cy="0"/>
              </a:xfrm>
              <a:prstGeom prst="line">
                <a:avLst/>
              </a:prstGeom>
              <a:ln w="12700">
                <a:solidFill>
                  <a:schemeClr val="bg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직선 연결선 44">
                <a:extLst>
                  <a:ext uri="{FF2B5EF4-FFF2-40B4-BE49-F238E27FC236}">
                    <a16:creationId xmlns:a16="http://schemas.microsoft.com/office/drawing/2014/main" id="{26DD1D53-6A7A-9F0D-53B4-B68C8915CFA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28558" y="4308453"/>
                <a:ext cx="440754" cy="0"/>
              </a:xfrm>
              <a:prstGeom prst="line">
                <a:avLst/>
              </a:prstGeom>
              <a:ln w="12700">
                <a:solidFill>
                  <a:schemeClr val="bg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6" name="그룹 45">
              <a:extLst>
                <a:ext uri="{FF2B5EF4-FFF2-40B4-BE49-F238E27FC236}">
                  <a16:creationId xmlns:a16="http://schemas.microsoft.com/office/drawing/2014/main" id="{4D6B476E-2B27-5891-7D7E-FC590FBD5D57}"/>
                </a:ext>
              </a:extLst>
            </p:cNvPr>
            <p:cNvGrpSpPr/>
            <p:nvPr/>
          </p:nvGrpSpPr>
          <p:grpSpPr>
            <a:xfrm>
              <a:off x="6104772" y="2361654"/>
              <a:ext cx="1124912" cy="2059041"/>
              <a:chOff x="4512792" y="2361654"/>
              <a:chExt cx="1124912" cy="2059041"/>
            </a:xfrm>
          </p:grpSpPr>
          <p:cxnSp>
            <p:nvCxnSpPr>
              <p:cNvPr id="47" name="직선 연결선 46">
                <a:extLst>
                  <a:ext uri="{FF2B5EF4-FFF2-40B4-BE49-F238E27FC236}">
                    <a16:creationId xmlns:a16="http://schemas.microsoft.com/office/drawing/2014/main" id="{A43FFB9B-A7DA-BEA3-5D04-F4F09CE8C5E7}"/>
                  </a:ext>
                </a:extLst>
              </p:cNvPr>
              <p:cNvCxnSpPr/>
              <p:nvPr/>
            </p:nvCxnSpPr>
            <p:spPr>
              <a:xfrm>
                <a:off x="4512792" y="2361654"/>
                <a:ext cx="1124912" cy="0"/>
              </a:xfrm>
              <a:prstGeom prst="line">
                <a:avLst/>
              </a:prstGeom>
              <a:ln w="12700">
                <a:solidFill>
                  <a:schemeClr val="bg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직선 연결선 47">
                <a:extLst>
                  <a:ext uri="{FF2B5EF4-FFF2-40B4-BE49-F238E27FC236}">
                    <a16:creationId xmlns:a16="http://schemas.microsoft.com/office/drawing/2014/main" id="{13A729E1-86FA-5CC8-BCE1-7698A218EB1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28558" y="2361654"/>
                <a:ext cx="0" cy="2059041"/>
              </a:xfrm>
              <a:prstGeom prst="line">
                <a:avLst/>
              </a:prstGeom>
              <a:ln w="12700">
                <a:solidFill>
                  <a:schemeClr val="bg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직선 연결선 48">
                <a:extLst>
                  <a:ext uri="{FF2B5EF4-FFF2-40B4-BE49-F238E27FC236}">
                    <a16:creationId xmlns:a16="http://schemas.microsoft.com/office/drawing/2014/main" id="{D21FA398-E85E-4F7A-3AF2-FDE9FACBE5E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269312" y="2361654"/>
                <a:ext cx="0" cy="2059041"/>
              </a:xfrm>
              <a:prstGeom prst="line">
                <a:avLst/>
              </a:prstGeom>
              <a:ln w="12700">
                <a:solidFill>
                  <a:schemeClr val="bg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직선 연결선 49">
                <a:extLst>
                  <a:ext uri="{FF2B5EF4-FFF2-40B4-BE49-F238E27FC236}">
                    <a16:creationId xmlns:a16="http://schemas.microsoft.com/office/drawing/2014/main" id="{A4E3A16C-5143-8454-BD0A-67B43D33464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28558" y="2558595"/>
                <a:ext cx="440754" cy="0"/>
              </a:xfrm>
              <a:prstGeom prst="line">
                <a:avLst/>
              </a:prstGeom>
              <a:ln w="12700">
                <a:solidFill>
                  <a:schemeClr val="bg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직선 연결선 50">
                <a:extLst>
                  <a:ext uri="{FF2B5EF4-FFF2-40B4-BE49-F238E27FC236}">
                    <a16:creationId xmlns:a16="http://schemas.microsoft.com/office/drawing/2014/main" id="{1A26C4A8-660A-05E1-FAC2-6024DC966C0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28558" y="2777327"/>
                <a:ext cx="440754" cy="0"/>
              </a:xfrm>
              <a:prstGeom prst="line">
                <a:avLst/>
              </a:prstGeom>
              <a:ln w="12700">
                <a:solidFill>
                  <a:schemeClr val="bg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직선 연결선 51">
                <a:extLst>
                  <a:ext uri="{FF2B5EF4-FFF2-40B4-BE49-F238E27FC236}">
                    <a16:creationId xmlns:a16="http://schemas.microsoft.com/office/drawing/2014/main" id="{239617DB-A78B-518C-3953-23F72511B49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28558" y="2996059"/>
                <a:ext cx="440754" cy="0"/>
              </a:xfrm>
              <a:prstGeom prst="line">
                <a:avLst/>
              </a:prstGeom>
              <a:ln w="12700">
                <a:solidFill>
                  <a:schemeClr val="bg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직선 연결선 52">
                <a:extLst>
                  <a:ext uri="{FF2B5EF4-FFF2-40B4-BE49-F238E27FC236}">
                    <a16:creationId xmlns:a16="http://schemas.microsoft.com/office/drawing/2014/main" id="{292B1FF3-E139-828B-2466-1ACC8A005EE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28558" y="3214791"/>
                <a:ext cx="440754" cy="0"/>
              </a:xfrm>
              <a:prstGeom prst="line">
                <a:avLst/>
              </a:prstGeom>
              <a:ln w="12700">
                <a:solidFill>
                  <a:schemeClr val="bg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직선 연결선 53">
                <a:extLst>
                  <a:ext uri="{FF2B5EF4-FFF2-40B4-BE49-F238E27FC236}">
                    <a16:creationId xmlns:a16="http://schemas.microsoft.com/office/drawing/2014/main" id="{30705E54-3E6C-F064-22F1-B44C9A8631C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28558" y="3433523"/>
                <a:ext cx="440754" cy="0"/>
              </a:xfrm>
              <a:prstGeom prst="line">
                <a:avLst/>
              </a:prstGeom>
              <a:ln w="12700">
                <a:solidFill>
                  <a:schemeClr val="bg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직선 연결선 54">
                <a:extLst>
                  <a:ext uri="{FF2B5EF4-FFF2-40B4-BE49-F238E27FC236}">
                    <a16:creationId xmlns:a16="http://schemas.microsoft.com/office/drawing/2014/main" id="{36552E02-6032-3ABB-A08A-34CB38DFD91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28558" y="3652255"/>
                <a:ext cx="440754" cy="0"/>
              </a:xfrm>
              <a:prstGeom prst="line">
                <a:avLst/>
              </a:prstGeom>
              <a:ln w="12700">
                <a:solidFill>
                  <a:schemeClr val="bg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직선 연결선 55">
                <a:extLst>
                  <a:ext uri="{FF2B5EF4-FFF2-40B4-BE49-F238E27FC236}">
                    <a16:creationId xmlns:a16="http://schemas.microsoft.com/office/drawing/2014/main" id="{D695F4A7-C125-206D-622B-509084ED793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28558" y="3870987"/>
                <a:ext cx="440754" cy="0"/>
              </a:xfrm>
              <a:prstGeom prst="line">
                <a:avLst/>
              </a:prstGeom>
              <a:ln w="12700">
                <a:solidFill>
                  <a:schemeClr val="bg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직선 연결선 56">
                <a:extLst>
                  <a:ext uri="{FF2B5EF4-FFF2-40B4-BE49-F238E27FC236}">
                    <a16:creationId xmlns:a16="http://schemas.microsoft.com/office/drawing/2014/main" id="{19506E65-4220-267E-19A5-A6E631584EF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28558" y="4089719"/>
                <a:ext cx="440754" cy="0"/>
              </a:xfrm>
              <a:prstGeom prst="line">
                <a:avLst/>
              </a:prstGeom>
              <a:ln w="12700">
                <a:solidFill>
                  <a:schemeClr val="bg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직선 연결선 57">
                <a:extLst>
                  <a:ext uri="{FF2B5EF4-FFF2-40B4-BE49-F238E27FC236}">
                    <a16:creationId xmlns:a16="http://schemas.microsoft.com/office/drawing/2014/main" id="{022CABC3-9AD5-8AE7-4275-FF63B89B868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28558" y="4308453"/>
                <a:ext cx="440754" cy="0"/>
              </a:xfrm>
              <a:prstGeom prst="line">
                <a:avLst/>
              </a:prstGeom>
              <a:ln w="12700">
                <a:solidFill>
                  <a:schemeClr val="bg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2" name="왼쪽 중괄호 61">
              <a:extLst>
                <a:ext uri="{FF2B5EF4-FFF2-40B4-BE49-F238E27FC236}">
                  <a16:creationId xmlns:a16="http://schemas.microsoft.com/office/drawing/2014/main" id="{203D22C5-9A6D-02D9-17CF-A0A2C0DBC384}"/>
                </a:ext>
              </a:extLst>
            </p:cNvPr>
            <p:cNvSpPr/>
            <p:nvPr/>
          </p:nvSpPr>
          <p:spPr>
            <a:xfrm>
              <a:off x="3210265" y="2361654"/>
              <a:ext cx="164133" cy="2059040"/>
            </a:xfrm>
            <a:prstGeom prst="leftBrace">
              <a:avLst/>
            </a:prstGeom>
            <a:ln>
              <a:solidFill>
                <a:srgbClr val="6699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10301A67-5824-8395-1A70-D918388294B6}"/>
                </a:ext>
              </a:extLst>
            </p:cNvPr>
            <p:cNvSpPr txBox="1"/>
            <p:nvPr/>
          </p:nvSpPr>
          <p:spPr>
            <a:xfrm>
              <a:off x="1618292" y="3252674"/>
              <a:ext cx="138771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>
                  <a:latin typeface="+mj-ea"/>
                  <a:ea typeface="+mj-ea"/>
                </a:rPr>
                <a:t>Rail area</a:t>
              </a:r>
              <a:endParaRPr lang="ko-KR" altLang="en-US" sz="1200">
                <a:latin typeface="+mj-ea"/>
                <a:ea typeface="+mj-ea"/>
              </a:endParaRPr>
            </a:p>
          </p:txBody>
        </p:sp>
      </p:grpSp>
      <p:grpSp>
        <p:nvGrpSpPr>
          <p:cNvPr id="73" name="그룹 72">
            <a:extLst>
              <a:ext uri="{FF2B5EF4-FFF2-40B4-BE49-F238E27FC236}">
                <a16:creationId xmlns:a16="http://schemas.microsoft.com/office/drawing/2014/main" id="{AFB5718C-307C-7727-9512-0BD434852B61}"/>
              </a:ext>
            </a:extLst>
          </p:cNvPr>
          <p:cNvGrpSpPr/>
          <p:nvPr/>
        </p:nvGrpSpPr>
        <p:grpSpPr>
          <a:xfrm>
            <a:off x="3578657" y="4537458"/>
            <a:ext cx="3651025" cy="269715"/>
            <a:chOff x="3578657" y="4537458"/>
            <a:chExt cx="3651025" cy="269715"/>
          </a:xfrm>
        </p:grpSpPr>
        <p:sp>
          <p:nvSpPr>
            <p:cNvPr id="69" name="직사각형 68">
              <a:extLst>
                <a:ext uri="{FF2B5EF4-FFF2-40B4-BE49-F238E27FC236}">
                  <a16:creationId xmlns:a16="http://schemas.microsoft.com/office/drawing/2014/main" id="{F4680419-2F75-0B8D-A084-E5E9E7C2E826}"/>
                </a:ext>
              </a:extLst>
            </p:cNvPr>
            <p:cNvSpPr/>
            <p:nvPr/>
          </p:nvSpPr>
          <p:spPr>
            <a:xfrm>
              <a:off x="3578657" y="4537458"/>
              <a:ext cx="1124911" cy="269715"/>
            </a:xfrm>
            <a:prstGeom prst="rect">
              <a:avLst/>
            </a:prstGeom>
            <a:solidFill>
              <a:srgbClr val="92D050"/>
            </a:solidFill>
            <a:ln w="158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/>
                <a:t>처리된 워크로드</a:t>
              </a:r>
            </a:p>
          </p:txBody>
        </p:sp>
        <p:sp>
          <p:nvSpPr>
            <p:cNvPr id="70" name="직사각형 69">
              <a:extLst>
                <a:ext uri="{FF2B5EF4-FFF2-40B4-BE49-F238E27FC236}">
                  <a16:creationId xmlns:a16="http://schemas.microsoft.com/office/drawing/2014/main" id="{54C02BD3-A5C6-C1C3-5BC6-5C4BABB69F53}"/>
                </a:ext>
              </a:extLst>
            </p:cNvPr>
            <p:cNvSpPr/>
            <p:nvPr/>
          </p:nvSpPr>
          <p:spPr>
            <a:xfrm>
              <a:off x="4841715" y="4537458"/>
              <a:ext cx="1124911" cy="269715"/>
            </a:xfrm>
            <a:prstGeom prst="rect">
              <a:avLst/>
            </a:prstGeom>
            <a:solidFill>
              <a:srgbClr val="92D050"/>
            </a:solidFill>
            <a:ln w="158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/>
                <a:t>처리된 워크로드</a:t>
              </a:r>
            </a:p>
          </p:txBody>
        </p:sp>
        <p:sp>
          <p:nvSpPr>
            <p:cNvPr id="71" name="직사각형 70">
              <a:extLst>
                <a:ext uri="{FF2B5EF4-FFF2-40B4-BE49-F238E27FC236}">
                  <a16:creationId xmlns:a16="http://schemas.microsoft.com/office/drawing/2014/main" id="{F70A375B-AA39-E12A-AC26-5FFA5F5E97C5}"/>
                </a:ext>
              </a:extLst>
            </p:cNvPr>
            <p:cNvSpPr/>
            <p:nvPr/>
          </p:nvSpPr>
          <p:spPr>
            <a:xfrm>
              <a:off x="6104771" y="4537458"/>
              <a:ext cx="1124911" cy="269715"/>
            </a:xfrm>
            <a:prstGeom prst="rect">
              <a:avLst/>
            </a:prstGeom>
            <a:solidFill>
              <a:srgbClr val="92D050"/>
            </a:solidFill>
            <a:ln w="158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/>
                <a:t>처리된 워크로드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80682332"/>
      </p:ext>
    </p:extLst>
  </p:cSld>
  <p:clrMapOvr>
    <a:masterClrMapping/>
  </p:clrMapOvr>
</p:sld>
</file>

<file path=ppt/theme/theme1.xml><?xml version="1.0" encoding="utf-8"?>
<a:theme xmlns:a="http://schemas.openxmlformats.org/drawingml/2006/main" name="Ferdinand template">
  <a:themeElements>
    <a:clrScheme name="Custom 347">
      <a:dk1>
        <a:srgbClr val="343A4E"/>
      </a:dk1>
      <a:lt1>
        <a:srgbClr val="FFFFFF"/>
      </a:lt1>
      <a:dk2>
        <a:srgbClr val="707A96"/>
      </a:dk2>
      <a:lt2>
        <a:srgbClr val="EEEFF3"/>
      </a:lt2>
      <a:accent1>
        <a:srgbClr val="ACD701"/>
      </a:accent1>
      <a:accent2>
        <a:srgbClr val="69B636"/>
      </a:accent2>
      <a:accent3>
        <a:srgbClr val="32A318"/>
      </a:accent3>
      <a:accent4>
        <a:srgbClr val="9EACD1"/>
      </a:accent4>
      <a:accent5>
        <a:srgbClr val="707A96"/>
      </a:accent5>
      <a:accent6>
        <a:srgbClr val="394057"/>
      </a:accent6>
      <a:hlink>
        <a:srgbClr val="0E9900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4877</TotalTime>
  <Words>102</Words>
  <Application>Microsoft Office PowerPoint</Application>
  <PresentationFormat>화면 슬라이드 쇼(16:9)</PresentationFormat>
  <Paragraphs>18</Paragraphs>
  <Slides>3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9" baseType="lpstr">
      <vt:lpstr>맑은 고딕</vt:lpstr>
      <vt:lpstr>Arial</vt:lpstr>
      <vt:lpstr>Encode Sans Semi Condensed SemiBold</vt:lpstr>
      <vt:lpstr>Encode Sans Semi Condensed Light</vt:lpstr>
      <vt:lpstr>나눔스퀘어라운드 ExtraBold</vt:lpstr>
      <vt:lpstr>Ferdinand template</vt:lpstr>
      <vt:lpstr>Kevin의 알기 쉬운 </vt:lpstr>
      <vt:lpstr>Scheduler를 위한 전용 Operator</vt:lpstr>
      <vt:lpstr>ParallelFlux의 동작 방식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Spring Reactive Web Applications</dc:title>
  <cp:lastModifiedBy>황정식</cp:lastModifiedBy>
  <cp:revision>194</cp:revision>
  <dcterms:modified xsi:type="dcterms:W3CDTF">2022-10-12T14:31:22Z</dcterms:modified>
</cp:coreProperties>
</file>