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7" r:id="rId1"/>
  </p:sldMasterIdLst>
  <p:notesMasterIdLst>
    <p:notesMasterId r:id="rId6"/>
  </p:notesMasterIdLst>
  <p:sldIdLst>
    <p:sldId id="256" r:id="rId2"/>
    <p:sldId id="316" r:id="rId3"/>
    <p:sldId id="318" r:id="rId4"/>
    <p:sldId id="317" r:id="rId5"/>
  </p:sldIdLst>
  <p:sldSz cx="9144000" cy="5143500" type="screen16x9"/>
  <p:notesSz cx="6858000" cy="9144000"/>
  <p:embeddedFontLst>
    <p:embeddedFont>
      <p:font typeface="나눔스퀘어라운드 ExtraBold" panose="020B0600000101010101" charset="-127"/>
      <p:bold r:id="rId7"/>
    </p:embeddedFont>
    <p:embeddedFont>
      <p:font typeface="Encode Sans Semi Condensed Light" panose="020B0600000101010101" charset="0"/>
      <p:regular r:id="rId8"/>
      <p:bold r:id="rId9"/>
    </p:embeddedFont>
    <p:embeddedFont>
      <p:font typeface="Encode Sans Semi Condensed SemiBold" panose="00000706000000000000" charset="0"/>
      <p:regular r:id="rId10"/>
      <p:bold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황 정식" initials="황정" lastIdx="1" clrIdx="0">
    <p:extLst>
      <p:ext uri="{19B8F6BF-5375-455C-9EA6-DF929625EA0E}">
        <p15:presenceInfo xmlns:p15="http://schemas.microsoft.com/office/powerpoint/2012/main" userId="황 정식" providerId="None"/>
      </p:ext>
    </p:extLst>
  </p:cmAuthor>
  <p:cmAuthor id="2" name="황정식" initials="황" lastIdx="1" clrIdx="1">
    <p:extLst>
      <p:ext uri="{19B8F6BF-5375-455C-9EA6-DF929625EA0E}">
        <p15:presenceInfo xmlns:p15="http://schemas.microsoft.com/office/powerpoint/2012/main" userId="황정식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DB33F"/>
    <a:srgbClr val="6699FF"/>
    <a:srgbClr val="FF9900"/>
    <a:srgbClr val="99CCFF"/>
    <a:srgbClr val="0033CC"/>
    <a:srgbClr val="003399"/>
    <a:srgbClr val="0066FF"/>
    <a:srgbClr val="3333FF"/>
    <a:srgbClr val="6666FF"/>
    <a:srgbClr val="00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1733CE0-5CC8-49EC-A5A2-AC90B53F43E9}">
  <a:tblStyle styleId="{21733CE0-5CC8-49EC-A5A2-AC90B53F43E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941" autoAdjust="0"/>
    <p:restoredTop sz="80941" autoAdjust="0"/>
  </p:normalViewPr>
  <p:slideViewPr>
    <p:cSldViewPr snapToGrid="0">
      <p:cViewPr varScale="1">
        <p:scale>
          <a:sx n="121" d="100"/>
          <a:sy n="121" d="100"/>
        </p:scale>
        <p:origin x="1758" y="10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581950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467162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356536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gradFill>
          <a:gsLst>
            <a:gs pos="0">
              <a:srgbClr val="4F5876"/>
            </a:gs>
            <a:gs pos="100000">
              <a:srgbClr val="1D1F25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 rot="10800000">
            <a:off x="6904227" y="249339"/>
            <a:ext cx="2034302" cy="2271600"/>
            <a:chOff x="208025" y="2621275"/>
            <a:chExt cx="2034302" cy="2271600"/>
          </a:xfrm>
        </p:grpSpPr>
        <p:sp>
          <p:nvSpPr>
            <p:cNvPr id="11" name="Google Shape;11;p2"/>
            <p:cNvSpPr/>
            <p:nvPr/>
          </p:nvSpPr>
          <p:spPr>
            <a:xfrm rot="-5400000" flipH="1">
              <a:off x="89375" y="2739925"/>
              <a:ext cx="2271600" cy="2034300"/>
            </a:xfrm>
            <a:prstGeom prst="parallelogram">
              <a:avLst>
                <a:gd name="adj" fmla="val 22770"/>
              </a:avLst>
            </a:pr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rot="10800000">
              <a:off x="617527" y="4047646"/>
              <a:ext cx="1624800" cy="380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" name="Google Shape;13;p2"/>
          <p:cNvGrpSpPr/>
          <p:nvPr/>
        </p:nvGrpSpPr>
        <p:grpSpPr>
          <a:xfrm>
            <a:off x="208025" y="2621275"/>
            <a:ext cx="2034302" cy="2271600"/>
            <a:chOff x="208025" y="2621275"/>
            <a:chExt cx="2034302" cy="2271600"/>
          </a:xfrm>
        </p:grpSpPr>
        <p:sp>
          <p:nvSpPr>
            <p:cNvPr id="14" name="Google Shape;14;p2"/>
            <p:cNvSpPr/>
            <p:nvPr/>
          </p:nvSpPr>
          <p:spPr>
            <a:xfrm rot="-5400000" flipH="1">
              <a:off x="89375" y="2739925"/>
              <a:ext cx="2271600" cy="2034300"/>
            </a:xfrm>
            <a:prstGeom prst="parallelogram">
              <a:avLst>
                <a:gd name="adj" fmla="val 22770"/>
              </a:avLst>
            </a:prstGeom>
            <a:gradFill>
              <a:gsLst>
                <a:gs pos="0">
                  <a:schemeClr val="accent1"/>
                </a:gs>
                <a:gs pos="2900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617527" y="4047646"/>
              <a:ext cx="1624800" cy="380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/>
          <p:nvPr/>
        </p:nvSpPr>
        <p:spPr>
          <a:xfrm rot="10800000" flipH="1">
            <a:off x="624300" y="1092075"/>
            <a:ext cx="7895400" cy="29592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1101000" y="1738825"/>
            <a:ext cx="6942000" cy="1665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9681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 + 1 colum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oogle Shape;38;p5"/>
          <p:cNvGrpSpPr/>
          <p:nvPr/>
        </p:nvGrpSpPr>
        <p:grpSpPr>
          <a:xfrm>
            <a:off x="0" y="277661"/>
            <a:ext cx="7817376" cy="1293452"/>
            <a:chOff x="0" y="277661"/>
            <a:chExt cx="7817376" cy="1293452"/>
          </a:xfrm>
        </p:grpSpPr>
        <p:sp>
          <p:nvSpPr>
            <p:cNvPr id="39" name="Google Shape;39;p5"/>
            <p:cNvSpPr/>
            <p:nvPr/>
          </p:nvSpPr>
          <p:spPr>
            <a:xfrm rot="-5400000" flipH="1">
              <a:off x="112050" y="481364"/>
              <a:ext cx="977700" cy="1201800"/>
            </a:xfrm>
            <a:prstGeom prst="parallelogram">
              <a:avLst>
                <a:gd name="adj" fmla="val 10943"/>
              </a:avLst>
            </a:prstGeom>
            <a:gradFill>
              <a:gsLst>
                <a:gs pos="0">
                  <a:schemeClr val="accent1"/>
                </a:gs>
                <a:gs pos="29000">
                  <a:schemeClr val="accent2"/>
                </a:gs>
                <a:gs pos="100000">
                  <a:schemeClr val="accent3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5"/>
            <p:cNvSpPr/>
            <p:nvPr/>
          </p:nvSpPr>
          <p:spPr>
            <a:xfrm rot="10800000">
              <a:off x="278209" y="1169850"/>
              <a:ext cx="927900" cy="2979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4700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1" name="Google Shape;41;p5"/>
            <p:cNvGrpSpPr/>
            <p:nvPr/>
          </p:nvGrpSpPr>
          <p:grpSpPr>
            <a:xfrm>
              <a:off x="284659" y="277661"/>
              <a:ext cx="7532717" cy="895903"/>
              <a:chOff x="0" y="266575"/>
              <a:chExt cx="6046490" cy="1687200"/>
            </a:xfrm>
          </p:grpSpPr>
          <p:sp>
            <p:nvSpPr>
              <p:cNvPr id="42" name="Google Shape;42;p5"/>
              <p:cNvSpPr/>
              <p:nvPr/>
            </p:nvSpPr>
            <p:spPr>
              <a:xfrm rot="10800000" flipH="1">
                <a:off x="0" y="266575"/>
                <a:ext cx="5867700" cy="1687200"/>
              </a:xfrm>
              <a:prstGeom prst="rect">
                <a:avLst/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5"/>
              <p:cNvSpPr/>
              <p:nvPr/>
            </p:nvSpPr>
            <p:spPr>
              <a:xfrm rot="10800000">
                <a:off x="5864390" y="266658"/>
                <a:ext cx="182100" cy="1684500"/>
              </a:xfrm>
              <a:prstGeom prst="triangle">
                <a:avLst>
                  <a:gd name="adj" fmla="val 100000"/>
                </a:avLst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4" name="Google Shape;44;p5"/>
          <p:cNvGrpSpPr/>
          <p:nvPr/>
        </p:nvGrpSpPr>
        <p:grpSpPr>
          <a:xfrm rot="10800000" flipH="1">
            <a:off x="8543953" y="4243733"/>
            <a:ext cx="600055" cy="374899"/>
            <a:chOff x="5211448" y="3165393"/>
            <a:chExt cx="1477967" cy="784800"/>
          </a:xfrm>
        </p:grpSpPr>
        <p:sp>
          <p:nvSpPr>
            <p:cNvPr id="45" name="Google Shape;45;p5"/>
            <p:cNvSpPr/>
            <p:nvPr/>
          </p:nvSpPr>
          <p:spPr>
            <a:xfrm rot="-5400000" flipH="1">
              <a:off x="5558565" y="2819343"/>
              <a:ext cx="784800" cy="1476900"/>
            </a:xfrm>
            <a:prstGeom prst="triangle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5"/>
            <p:cNvSpPr/>
            <p:nvPr/>
          </p:nvSpPr>
          <p:spPr>
            <a:xfrm rot="10800000" flipH="1">
              <a:off x="5211448" y="3169975"/>
              <a:ext cx="1477800" cy="389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4700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" name="Google Shape;47;p5"/>
          <p:cNvGrpSpPr/>
          <p:nvPr/>
        </p:nvGrpSpPr>
        <p:grpSpPr>
          <a:xfrm flipH="1">
            <a:off x="8385351" y="4612318"/>
            <a:ext cx="758573" cy="531131"/>
            <a:chOff x="0" y="266575"/>
            <a:chExt cx="7503194" cy="1687200"/>
          </a:xfrm>
        </p:grpSpPr>
        <p:sp>
          <p:nvSpPr>
            <p:cNvPr id="48" name="Google Shape;48;p5"/>
            <p:cNvSpPr/>
            <p:nvPr/>
          </p:nvSpPr>
          <p:spPr>
            <a:xfrm rot="10800000" flipH="1">
              <a:off x="0" y="266575"/>
              <a:ext cx="5867700" cy="16872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5"/>
            <p:cNvSpPr/>
            <p:nvPr/>
          </p:nvSpPr>
          <p:spPr>
            <a:xfrm rot="10800000">
              <a:off x="5808794" y="266660"/>
              <a:ext cx="1694400" cy="1684500"/>
            </a:xfrm>
            <a:prstGeom prst="triangle">
              <a:avLst>
                <a:gd name="adj" fmla="val 10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0" name="Google Shape;50;p5"/>
          <p:cNvSpPr txBox="1">
            <a:spLocks noGrp="1"/>
          </p:cNvSpPr>
          <p:nvPr>
            <p:ph type="title"/>
          </p:nvPr>
        </p:nvSpPr>
        <p:spPr>
          <a:xfrm>
            <a:off x="533400" y="277650"/>
            <a:ext cx="6840600" cy="89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body" idx="1"/>
          </p:nvPr>
        </p:nvSpPr>
        <p:spPr>
          <a:xfrm>
            <a:off x="1206100" y="1706200"/>
            <a:ext cx="7026900" cy="30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SzPts val="2400"/>
              <a:buChar char="⊳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9pPr>
          </a:lstStyle>
          <a:p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sldNum" idx="12"/>
          </p:nvPr>
        </p:nvSpPr>
        <p:spPr>
          <a:xfrm>
            <a:off x="8543950" y="4612325"/>
            <a:ext cx="485400" cy="531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2415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33400" y="277650"/>
            <a:ext cx="6840600" cy="895800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470125" y="1553800"/>
            <a:ext cx="6915300" cy="30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lvl="4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lvl="5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lvl="6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lvl="7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lvl="8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43950" y="4612325"/>
            <a:ext cx="485400" cy="5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lvl="1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lvl="2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lvl="3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lvl="4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lvl="5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lvl="6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lvl="7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lvl="8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8" r:id="rId1"/>
    <p:sldLayoutId id="2147483659" r:id="rId2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"/>
          <p:cNvSpPr txBox="1">
            <a:spLocks noGrp="1"/>
          </p:cNvSpPr>
          <p:nvPr>
            <p:ph type="ctrTitle"/>
          </p:nvPr>
        </p:nvSpPr>
        <p:spPr>
          <a:xfrm>
            <a:off x="87405" y="0"/>
            <a:ext cx="8639735" cy="105144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Kevin</a:t>
            </a:r>
            <a:r>
              <a:rPr lang="ko-KR" altLang="en-US" sz="32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의 알기 쉬운 </a:t>
            </a:r>
            <a:endParaRPr sz="3200">
              <a:solidFill>
                <a:schemeClr val="accent1">
                  <a:lumMod val="40000"/>
                  <a:lumOff val="60000"/>
                </a:schemeClr>
              </a:solidFill>
              <a:latin typeface="나눔스퀘어라운드 ExtraBold" panose="020B0600000101010101" charset="-127"/>
              <a:ea typeface="나눔스퀘어라운드 ExtraBold" panose="020B0600000101010101" charset="-127"/>
            </a:endParaRPr>
          </a:p>
        </p:txBody>
      </p:sp>
      <p:sp>
        <p:nvSpPr>
          <p:cNvPr id="4" name="Google Shape;126;p11">
            <a:extLst>
              <a:ext uri="{FF2B5EF4-FFF2-40B4-BE49-F238E27FC236}">
                <a16:creationId xmlns:a16="http://schemas.microsoft.com/office/drawing/2014/main" id="{7014F73D-F994-4842-AC03-FB3329414776}"/>
              </a:ext>
            </a:extLst>
          </p:cNvPr>
          <p:cNvSpPr txBox="1">
            <a:spLocks/>
          </p:cNvSpPr>
          <p:nvPr/>
        </p:nvSpPr>
        <p:spPr>
          <a:xfrm>
            <a:off x="2393157" y="4092060"/>
            <a:ext cx="6750843" cy="1051440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pPr algn="l"/>
            <a:r>
              <a:rPr lang="en-US" sz="3200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나눔스퀘어라운드 ExtraBold" panose="020B0600000101010101" charset="-127"/>
                <a:ea typeface="나눔스퀘어라운드 ExtraBold" panose="020B0600000101010101" charset="-127"/>
              </a:rPr>
              <a:t>Spring Reactive Web Applications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F15B79C-E878-4CB4-AA38-2CA58A694E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4268" y="114341"/>
            <a:ext cx="2919413" cy="888335"/>
          </a:xfrm>
          <a:prstGeom prst="rect">
            <a:avLst/>
          </a:prstGeom>
        </p:spPr>
      </p:pic>
      <p:pic>
        <p:nvPicPr>
          <p:cNvPr id="11" name="그림 10" descr="실내, 앉아있는, 컴퓨터, 작은이(가) 표시된 사진&#10;&#10;자동 생성된 설명">
            <a:extLst>
              <a:ext uri="{FF2B5EF4-FFF2-40B4-BE49-F238E27FC236}">
                <a16:creationId xmlns:a16="http://schemas.microsoft.com/office/drawing/2014/main" id="{41CBB6E7-9A32-4310-B735-13A43B1EB4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562840"/>
            <a:ext cx="578857" cy="580660"/>
          </a:xfrm>
          <a:prstGeom prst="rect">
            <a:avLst/>
          </a:prstGeom>
        </p:spPr>
      </p:pic>
      <p:sp>
        <p:nvSpPr>
          <p:cNvPr id="2" name="Google Shape;126;p11">
            <a:extLst>
              <a:ext uri="{FF2B5EF4-FFF2-40B4-BE49-F238E27FC236}">
                <a16:creationId xmlns:a16="http://schemas.microsoft.com/office/drawing/2014/main" id="{B154FAC8-F82E-49B1-8799-6998C9411213}"/>
              </a:ext>
            </a:extLst>
          </p:cNvPr>
          <p:cNvSpPr txBox="1">
            <a:spLocks/>
          </p:cNvSpPr>
          <p:nvPr/>
        </p:nvSpPr>
        <p:spPr>
          <a:xfrm>
            <a:off x="665629" y="1117017"/>
            <a:ext cx="7853083" cy="2866047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r>
              <a:rPr lang="en-US" altLang="ko-KR" sz="4000" b="1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Debugging</a:t>
            </a:r>
            <a:r>
              <a:rPr lang="ko-KR" altLang="en-US" sz="40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 </a:t>
            </a:r>
            <a:endParaRPr lang="en-US" altLang="ko-KR" sz="40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68;p16">
            <a:extLst>
              <a:ext uri="{FF2B5EF4-FFF2-40B4-BE49-F238E27FC236}">
                <a16:creationId xmlns:a16="http://schemas.microsoft.com/office/drawing/2014/main" id="{803E2E8C-C2A7-4856-B22D-CCAFC535AE8D}"/>
              </a:ext>
            </a:extLst>
          </p:cNvPr>
          <p:cNvSpPr txBox="1">
            <a:spLocks/>
          </p:cNvSpPr>
          <p:nvPr/>
        </p:nvSpPr>
        <p:spPr>
          <a:xfrm>
            <a:off x="1206100" y="3105769"/>
            <a:ext cx="7465202" cy="422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log( ) operator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를 사용해서 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Reactor Sequence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에서 발생하는 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Signal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을 확인하는 방법</a:t>
            </a:r>
            <a:endParaRPr lang="en-US" altLang="ko-KR" sz="1600" b="1">
              <a:latin typeface="나눔스퀘어라운드 ExtraBold" panose="020B0600000101010101" charset="-127"/>
              <a:ea typeface="나눔스퀘어라운드 ExtraBold" panose="020B0600000101010101" charset="-127"/>
            </a:endParaRPr>
          </a:p>
        </p:txBody>
      </p:sp>
      <p:sp>
        <p:nvSpPr>
          <p:cNvPr id="9" name="Google Shape;168;p16">
            <a:extLst>
              <a:ext uri="{FF2B5EF4-FFF2-40B4-BE49-F238E27FC236}">
                <a16:creationId xmlns:a16="http://schemas.microsoft.com/office/drawing/2014/main" id="{C587C4D3-73EC-49B7-905A-216A331DAE57}"/>
              </a:ext>
            </a:extLst>
          </p:cNvPr>
          <p:cNvSpPr txBox="1">
            <a:spLocks/>
          </p:cNvSpPr>
          <p:nvPr/>
        </p:nvSpPr>
        <p:spPr>
          <a:xfrm>
            <a:off x="1206100" y="1495985"/>
            <a:ext cx="7465202" cy="422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Debug 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모드를 활성화 하는 방법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(Globally).</a:t>
            </a:r>
          </a:p>
        </p:txBody>
      </p:sp>
      <p:sp>
        <p:nvSpPr>
          <p:cNvPr id="7" name="Google Shape;168;p16">
            <a:extLst>
              <a:ext uri="{FF2B5EF4-FFF2-40B4-BE49-F238E27FC236}">
                <a16:creationId xmlns:a16="http://schemas.microsoft.com/office/drawing/2014/main" id="{7446CBAA-9AC9-40E4-BF00-594B9922D70A}"/>
              </a:ext>
            </a:extLst>
          </p:cNvPr>
          <p:cNvSpPr txBox="1">
            <a:spLocks/>
          </p:cNvSpPr>
          <p:nvPr/>
        </p:nvSpPr>
        <p:spPr>
          <a:xfrm>
            <a:off x="1206100" y="2343571"/>
            <a:ext cx="7465202" cy="422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checkpoint( ) Operator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를 사용하는 방법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(Locally).</a:t>
            </a:r>
          </a:p>
        </p:txBody>
      </p:sp>
      <p:sp>
        <p:nvSpPr>
          <p:cNvPr id="8" name="Google Shape;167;p16">
            <a:extLst>
              <a:ext uri="{FF2B5EF4-FFF2-40B4-BE49-F238E27FC236}">
                <a16:creationId xmlns:a16="http://schemas.microsoft.com/office/drawing/2014/main" id="{19B2BC0B-A050-4E7F-A463-BBB0783B854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695" y="277650"/>
            <a:ext cx="7221640" cy="89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Reactor</a:t>
            </a:r>
            <a:r>
              <a:rPr lang="ko-KR" altLang="en-US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에서의 </a:t>
            </a:r>
            <a:r>
              <a:rPr lang="en-US" altLang="ko-KR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Debugging </a:t>
            </a:r>
            <a:r>
              <a:rPr lang="ko-KR" altLang="en-US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방법</a:t>
            </a:r>
          </a:p>
        </p:txBody>
      </p:sp>
    </p:spTree>
    <p:extLst>
      <p:ext uri="{BB962C8B-B14F-4D97-AF65-F5344CB8AC3E}">
        <p14:creationId xmlns:p14="http://schemas.microsoft.com/office/powerpoint/2010/main" val="3155081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p"/>
      <p:bldP spid="9" grpId="0" uiExpand="1" build="p"/>
      <p:bldP spid="7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68;p16">
            <a:extLst>
              <a:ext uri="{FF2B5EF4-FFF2-40B4-BE49-F238E27FC236}">
                <a16:creationId xmlns:a16="http://schemas.microsoft.com/office/drawing/2014/main" id="{803E2E8C-C2A7-4856-B22D-CCAFC535AE8D}"/>
              </a:ext>
            </a:extLst>
          </p:cNvPr>
          <p:cNvSpPr txBox="1">
            <a:spLocks/>
          </p:cNvSpPr>
          <p:nvPr/>
        </p:nvSpPr>
        <p:spPr>
          <a:xfrm>
            <a:off x="1206100" y="3520210"/>
            <a:ext cx="7465202" cy="422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en-US" altLang="ko-KR" sz="1600" b="1">
                <a:solidFill>
                  <a:srgbClr val="FF0000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traceback</a:t>
            </a:r>
          </a:p>
        </p:txBody>
      </p:sp>
      <p:sp>
        <p:nvSpPr>
          <p:cNvPr id="9" name="Google Shape;168;p16">
            <a:extLst>
              <a:ext uri="{FF2B5EF4-FFF2-40B4-BE49-F238E27FC236}">
                <a16:creationId xmlns:a16="http://schemas.microsoft.com/office/drawing/2014/main" id="{C587C4D3-73EC-49B7-905A-216A331DAE57}"/>
              </a:ext>
            </a:extLst>
          </p:cNvPr>
          <p:cNvSpPr txBox="1">
            <a:spLocks/>
          </p:cNvSpPr>
          <p:nvPr/>
        </p:nvSpPr>
        <p:spPr>
          <a:xfrm>
            <a:off x="1206100" y="2418114"/>
            <a:ext cx="7465202" cy="422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en-US" altLang="ko-KR" sz="1600" b="1">
                <a:solidFill>
                  <a:srgbClr val="FF0000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assembly</a:t>
            </a:r>
          </a:p>
        </p:txBody>
      </p:sp>
      <p:sp>
        <p:nvSpPr>
          <p:cNvPr id="7" name="Google Shape;168;p16">
            <a:extLst>
              <a:ext uri="{FF2B5EF4-FFF2-40B4-BE49-F238E27FC236}">
                <a16:creationId xmlns:a16="http://schemas.microsoft.com/office/drawing/2014/main" id="{7446CBAA-9AC9-40E4-BF00-594B9922D70A}"/>
              </a:ext>
            </a:extLst>
          </p:cNvPr>
          <p:cNvSpPr txBox="1">
            <a:spLocks/>
          </p:cNvSpPr>
          <p:nvPr/>
        </p:nvSpPr>
        <p:spPr>
          <a:xfrm>
            <a:off x="1206100" y="1446445"/>
            <a:ext cx="7465202" cy="422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en-US" altLang="ko-KR" sz="1600" b="1">
                <a:solidFill>
                  <a:srgbClr val="FF0000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stacktrace</a:t>
            </a:r>
          </a:p>
        </p:txBody>
      </p:sp>
      <p:sp>
        <p:nvSpPr>
          <p:cNvPr id="8" name="Google Shape;167;p16">
            <a:extLst>
              <a:ext uri="{FF2B5EF4-FFF2-40B4-BE49-F238E27FC236}">
                <a16:creationId xmlns:a16="http://schemas.microsoft.com/office/drawing/2014/main" id="{19B2BC0B-A050-4E7F-A463-BBB0783B854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695" y="277650"/>
            <a:ext cx="7221640" cy="89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Debugging</a:t>
            </a:r>
            <a:r>
              <a:rPr lang="ko-KR" altLang="en-US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시 알아두면 좋은 몇가지 용어</a:t>
            </a:r>
          </a:p>
        </p:txBody>
      </p:sp>
      <p:sp>
        <p:nvSpPr>
          <p:cNvPr id="2" name="Google Shape;168;p16">
            <a:extLst>
              <a:ext uri="{FF2B5EF4-FFF2-40B4-BE49-F238E27FC236}">
                <a16:creationId xmlns:a16="http://schemas.microsoft.com/office/drawing/2014/main" id="{7C6332CB-C872-3176-21D5-C1C083EDA838}"/>
              </a:ext>
            </a:extLst>
          </p:cNvPr>
          <p:cNvSpPr txBox="1">
            <a:spLocks/>
          </p:cNvSpPr>
          <p:nvPr/>
        </p:nvSpPr>
        <p:spPr>
          <a:xfrm>
            <a:off x="1514389" y="2818699"/>
            <a:ext cx="6646247" cy="422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ko-KR" altLang="en-US" sz="16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새로운 </a:t>
            </a:r>
            <a:r>
              <a:rPr lang="en-US" altLang="ko-KR" sz="16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Flux</a:t>
            </a:r>
            <a:r>
              <a:rPr lang="ko-KR" altLang="en-US" sz="16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가 선언된 지점</a:t>
            </a:r>
          </a:p>
        </p:txBody>
      </p:sp>
      <p:sp>
        <p:nvSpPr>
          <p:cNvPr id="3" name="Google Shape;168;p16">
            <a:extLst>
              <a:ext uri="{FF2B5EF4-FFF2-40B4-BE49-F238E27FC236}">
                <a16:creationId xmlns:a16="http://schemas.microsoft.com/office/drawing/2014/main" id="{696ADC5A-8CD3-2BBB-2D1F-E7C155C6CC15}"/>
              </a:ext>
            </a:extLst>
          </p:cNvPr>
          <p:cNvSpPr txBox="1">
            <a:spLocks/>
          </p:cNvSpPr>
          <p:nvPr/>
        </p:nvSpPr>
        <p:spPr>
          <a:xfrm>
            <a:off x="1514389" y="1801975"/>
            <a:ext cx="6646247" cy="422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ko-KR" altLang="en-US" sz="16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호출된 메서드에 대한 </a:t>
            </a:r>
            <a:r>
              <a:rPr lang="en-US" altLang="ko-KR" sz="16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Stack Frame</a:t>
            </a:r>
            <a:r>
              <a:rPr lang="ko-KR" altLang="en-US" sz="16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에 대한 리포트</a:t>
            </a:r>
          </a:p>
        </p:txBody>
      </p:sp>
      <p:sp>
        <p:nvSpPr>
          <p:cNvPr id="4" name="Google Shape;168;p16">
            <a:extLst>
              <a:ext uri="{FF2B5EF4-FFF2-40B4-BE49-F238E27FC236}">
                <a16:creationId xmlns:a16="http://schemas.microsoft.com/office/drawing/2014/main" id="{6BA25447-B5EB-1C2D-AD9B-317C18C2B847}"/>
              </a:ext>
            </a:extLst>
          </p:cNvPr>
          <p:cNvSpPr txBox="1">
            <a:spLocks/>
          </p:cNvSpPr>
          <p:nvPr/>
        </p:nvSpPr>
        <p:spPr>
          <a:xfrm>
            <a:off x="1514389" y="3943177"/>
            <a:ext cx="6646247" cy="422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ko-KR" altLang="en-US" sz="16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실패한 </a:t>
            </a:r>
            <a:r>
              <a:rPr lang="en-US" altLang="ko-KR" sz="16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operator</a:t>
            </a:r>
            <a:r>
              <a:rPr lang="ko-KR" altLang="en-US" sz="16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의 </a:t>
            </a:r>
            <a:r>
              <a:rPr lang="en-US" altLang="ko-KR" sz="16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stacktrace</a:t>
            </a:r>
            <a:r>
              <a:rPr lang="ko-KR" altLang="en-US" sz="16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를 캡처한 정보</a:t>
            </a:r>
          </a:p>
        </p:txBody>
      </p:sp>
      <p:sp>
        <p:nvSpPr>
          <p:cNvPr id="5" name="Google Shape;168;p16">
            <a:extLst>
              <a:ext uri="{FF2B5EF4-FFF2-40B4-BE49-F238E27FC236}">
                <a16:creationId xmlns:a16="http://schemas.microsoft.com/office/drawing/2014/main" id="{15014ECE-B61D-7814-13B8-4A594D4F613E}"/>
              </a:ext>
            </a:extLst>
          </p:cNvPr>
          <p:cNvSpPr txBox="1">
            <a:spLocks/>
          </p:cNvSpPr>
          <p:nvPr/>
        </p:nvSpPr>
        <p:spPr>
          <a:xfrm>
            <a:off x="1514389" y="4410821"/>
            <a:ext cx="6646247" cy="422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altLang="ko-KR" sz="16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suppressed exception </a:t>
            </a:r>
            <a:r>
              <a:rPr lang="ko-KR" altLang="en-US" sz="16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형태로 </a:t>
            </a:r>
            <a:r>
              <a:rPr lang="en-US" altLang="ko-KR" sz="16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original stacktrace</a:t>
            </a:r>
            <a:r>
              <a:rPr lang="ko-KR" altLang="en-US" sz="16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에 추가된다</a:t>
            </a:r>
            <a:r>
              <a:rPr lang="en-US" altLang="ko-KR" sz="16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.</a:t>
            </a:r>
            <a:endParaRPr lang="ko-KR" altLang="en-US" sz="16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03979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p"/>
      <p:bldP spid="9" grpId="0" uiExpand="1" build="p"/>
      <p:bldP spid="7" grpId="0"/>
      <p:bldP spid="2" grpId="0"/>
      <p:bldP spid="3" grpId="0"/>
      <p:bldP spid="4" grpId="0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68;p16">
            <a:extLst>
              <a:ext uri="{FF2B5EF4-FFF2-40B4-BE49-F238E27FC236}">
                <a16:creationId xmlns:a16="http://schemas.microsoft.com/office/drawing/2014/main" id="{803E2E8C-C2A7-4856-B22D-CCAFC535AE8D}"/>
              </a:ext>
            </a:extLst>
          </p:cNvPr>
          <p:cNvSpPr txBox="1">
            <a:spLocks/>
          </p:cNvSpPr>
          <p:nvPr/>
        </p:nvSpPr>
        <p:spPr>
          <a:xfrm>
            <a:off x="1206100" y="2281424"/>
            <a:ext cx="7465202" cy="422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Hooks.onOperatorDebug()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를 통해서 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Debug 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모드를 활성화 할 수 있다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</a:p>
        </p:txBody>
      </p:sp>
      <p:sp>
        <p:nvSpPr>
          <p:cNvPr id="9" name="Google Shape;168;p16">
            <a:extLst>
              <a:ext uri="{FF2B5EF4-FFF2-40B4-BE49-F238E27FC236}">
                <a16:creationId xmlns:a16="http://schemas.microsoft.com/office/drawing/2014/main" id="{C587C4D3-73EC-49B7-905A-216A331DAE57}"/>
              </a:ext>
            </a:extLst>
          </p:cNvPr>
          <p:cNvSpPr txBox="1">
            <a:spLocks/>
          </p:cNvSpPr>
          <p:nvPr/>
        </p:nvSpPr>
        <p:spPr>
          <a:xfrm>
            <a:off x="1206100" y="3381012"/>
            <a:ext cx="7465202" cy="696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Debug 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모드를 활성화 하면 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Operator 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체인에서 에러 발생 시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, 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에러가 발생한 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Operator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의 위치를 알려준다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</a:p>
        </p:txBody>
      </p:sp>
      <p:sp>
        <p:nvSpPr>
          <p:cNvPr id="7" name="Google Shape;168;p16">
            <a:extLst>
              <a:ext uri="{FF2B5EF4-FFF2-40B4-BE49-F238E27FC236}">
                <a16:creationId xmlns:a16="http://schemas.microsoft.com/office/drawing/2014/main" id="{7446CBAA-9AC9-40E4-BF00-594B9922D70A}"/>
              </a:ext>
            </a:extLst>
          </p:cNvPr>
          <p:cNvSpPr txBox="1">
            <a:spLocks/>
          </p:cNvSpPr>
          <p:nvPr/>
        </p:nvSpPr>
        <p:spPr>
          <a:xfrm>
            <a:off x="1206100" y="4235334"/>
            <a:ext cx="7465202" cy="696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사용이 쉽지만 애플리케이션 내 모든 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Operator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의 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assembly(New Flux or Mono)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를 캡처하기 때문에 비용이 많이 든다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</a:p>
        </p:txBody>
      </p:sp>
      <p:sp>
        <p:nvSpPr>
          <p:cNvPr id="8" name="Google Shape;167;p16">
            <a:extLst>
              <a:ext uri="{FF2B5EF4-FFF2-40B4-BE49-F238E27FC236}">
                <a16:creationId xmlns:a16="http://schemas.microsoft.com/office/drawing/2014/main" id="{187CB6B3-F3A7-422F-BC2F-99589F55FD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695" y="277650"/>
            <a:ext cx="7221640" cy="89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Debug</a:t>
            </a:r>
            <a:r>
              <a:rPr lang="ko-KR" altLang="en-US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 모드를 사용한 </a:t>
            </a:r>
            <a:r>
              <a:rPr lang="en-US" altLang="ko-KR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Debugging</a:t>
            </a:r>
            <a:endParaRPr lang="ko-KR" altLang="en-US" sz="24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6" name="Google Shape;168;p16">
            <a:extLst>
              <a:ext uri="{FF2B5EF4-FFF2-40B4-BE49-F238E27FC236}">
                <a16:creationId xmlns:a16="http://schemas.microsoft.com/office/drawing/2014/main" id="{253D6CE6-AD9E-4EAF-BC17-BF3A6C6445D1}"/>
              </a:ext>
            </a:extLst>
          </p:cNvPr>
          <p:cNvSpPr txBox="1">
            <a:spLocks/>
          </p:cNvSpPr>
          <p:nvPr/>
        </p:nvSpPr>
        <p:spPr>
          <a:xfrm>
            <a:off x="1206100" y="2800699"/>
            <a:ext cx="7465202" cy="422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Hooks.onOperatorDebug()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는 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Operator 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체인이 선언되기 전에 수행되어야 한다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</a:p>
        </p:txBody>
      </p:sp>
      <p:sp>
        <p:nvSpPr>
          <p:cNvPr id="2" name="Google Shape;168;p16">
            <a:extLst>
              <a:ext uri="{FF2B5EF4-FFF2-40B4-BE49-F238E27FC236}">
                <a16:creationId xmlns:a16="http://schemas.microsoft.com/office/drawing/2014/main" id="{D6956C09-F49E-70FD-3F6E-4BC68A5DF35D}"/>
              </a:ext>
            </a:extLst>
          </p:cNvPr>
          <p:cNvSpPr txBox="1">
            <a:spLocks/>
          </p:cNvSpPr>
          <p:nvPr/>
        </p:nvSpPr>
        <p:spPr>
          <a:xfrm>
            <a:off x="1206100" y="1485434"/>
            <a:ext cx="7465202" cy="422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Debug 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모드 시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, Operator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의 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stacktrace capturing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을 통해 디버깅에 필요한 정보를 측정한다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68115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p"/>
      <p:bldP spid="9" grpId="0" uiExpand="1" build="p"/>
      <p:bldP spid="7" grpId="0" uiExpand="1" build="p"/>
      <p:bldP spid="6" grpId="0" uiExpand="1" build="p"/>
      <p:bldP spid="2" grpId="0" uiExpand="1" build="p"/>
    </p:bldLst>
  </p:timing>
</p:sld>
</file>

<file path=ppt/theme/theme1.xml><?xml version="1.0" encoding="utf-8"?>
<a:theme xmlns:a="http://schemas.openxmlformats.org/drawingml/2006/main" name="Ferdinand template">
  <a:themeElements>
    <a:clrScheme name="Custom 347">
      <a:dk1>
        <a:srgbClr val="343A4E"/>
      </a:dk1>
      <a:lt1>
        <a:srgbClr val="FFFFFF"/>
      </a:lt1>
      <a:dk2>
        <a:srgbClr val="707A96"/>
      </a:dk2>
      <a:lt2>
        <a:srgbClr val="EEEFF3"/>
      </a:lt2>
      <a:accent1>
        <a:srgbClr val="ACD701"/>
      </a:accent1>
      <a:accent2>
        <a:srgbClr val="69B636"/>
      </a:accent2>
      <a:accent3>
        <a:srgbClr val="32A318"/>
      </a:accent3>
      <a:accent4>
        <a:srgbClr val="9EACD1"/>
      </a:accent4>
      <a:accent5>
        <a:srgbClr val="707A96"/>
      </a:accent5>
      <a:accent6>
        <a:srgbClr val="394057"/>
      </a:accent6>
      <a:hlink>
        <a:srgbClr val="0E9900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5829</TotalTime>
  <Words>164</Words>
  <Application>Microsoft Office PowerPoint</Application>
  <PresentationFormat>화면 슬라이드 쇼(16:9)</PresentationFormat>
  <Paragraphs>21</Paragraphs>
  <Slides>4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9" baseType="lpstr">
      <vt:lpstr>Encode Sans Semi Condensed SemiBold</vt:lpstr>
      <vt:lpstr>Encode Sans Semi Condensed Light</vt:lpstr>
      <vt:lpstr>나눔스퀘어라운드 ExtraBold</vt:lpstr>
      <vt:lpstr>Arial</vt:lpstr>
      <vt:lpstr>Ferdinand template</vt:lpstr>
      <vt:lpstr>Kevin의 알기 쉬운 </vt:lpstr>
      <vt:lpstr>Reactor에서의 Debugging 방법</vt:lpstr>
      <vt:lpstr>Debugging시 알아두면 좋은 몇가지 용어</vt:lpstr>
      <vt:lpstr>Debug 모드를 사용한 Debugging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Spring Reactive Web Applications</dc:title>
  <cp:lastModifiedBy>황정식</cp:lastModifiedBy>
  <cp:revision>243</cp:revision>
  <dcterms:modified xsi:type="dcterms:W3CDTF">2022-12-20T14:22:08Z</dcterms:modified>
</cp:coreProperties>
</file>