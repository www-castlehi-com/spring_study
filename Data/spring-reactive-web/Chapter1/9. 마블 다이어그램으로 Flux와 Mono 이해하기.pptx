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6"/>
  </p:notesMasterIdLst>
  <p:sldIdLst>
    <p:sldId id="256" r:id="rId2"/>
    <p:sldId id="294" r:id="rId3"/>
    <p:sldId id="295" r:id="rId4"/>
    <p:sldId id="284" r:id="rId5"/>
  </p:sldIdLst>
  <p:sldSz cx="9144000" cy="5143500" type="screen16x9"/>
  <p:notesSz cx="6858000" cy="9144000"/>
  <p:embeddedFontLst>
    <p:embeddedFont>
      <p:font typeface="나눔고딕 ExtraBold" panose="020B0600000101010101" charset="-127"/>
      <p:bold r:id="rId7"/>
    </p:embeddedFont>
    <p:embeddedFont>
      <p:font typeface="나눔스퀘어라운드 ExtraBold" panose="020B0600000101010101" charset="-127"/>
      <p:bold r:id="rId8"/>
    </p:embeddedFont>
    <p:embeddedFont>
      <p:font typeface="Encode Sans Semi Condensed Light" panose="020B0600000101010101" charset="0"/>
      <p:regular r:id="rId9"/>
      <p:bold r:id="rId10"/>
    </p:embeddedFont>
    <p:embeddedFont>
      <p:font typeface="Encode Sans Semi Condensed SemiBold" panose="00000706000000000000" charset="0"/>
      <p:regular r:id="rId11"/>
      <p:bold r:id="rId12"/>
    </p:embeddedFont>
    <p:embeddedFont>
      <p:font typeface="나눔고딕" pitchFamily="2" charset="-127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FF9900"/>
    <a:srgbClr val="003399"/>
    <a:srgbClr val="0066FF"/>
    <a:srgbClr val="3333FF"/>
    <a:srgbClr val="6699FF"/>
    <a:srgbClr val="6666FF"/>
    <a:srgbClr val="0099FF"/>
    <a:srgbClr val="99CCFF"/>
    <a:srgbClr val="6DB3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8" autoAdjust="0"/>
    <p:restoredTop sz="77216" autoAdjust="0"/>
  </p:normalViewPr>
  <p:slideViewPr>
    <p:cSldViewPr snapToGrid="0">
      <p:cViewPr varScale="1">
        <p:scale>
          <a:sx n="130" d="100"/>
          <a:sy n="130" d="100"/>
        </p:scale>
        <p:origin x="138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font" Target="fonts/font4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317500" rtl="0" fontAlgn="base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 sz="1800" b="0" i="0" u="none" strike="noStrike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2490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0986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41a98d525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41a98d525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0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110" name="Google Shape;110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" name="Google Shape;112;p10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113" name="Google Shape;113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10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6" name="Google Shape;116;p10"/>
          <p:cNvGrpSpPr/>
          <p:nvPr/>
        </p:nvGrpSpPr>
        <p:grpSpPr>
          <a:xfrm flipH="1">
            <a:off x="1" y="524824"/>
            <a:ext cx="600055" cy="374899"/>
            <a:chOff x="5211448" y="3165393"/>
            <a:chExt cx="1477967" cy="784800"/>
          </a:xfrm>
        </p:grpSpPr>
        <p:sp>
          <p:nvSpPr>
            <p:cNvPr id="117" name="Google Shape;117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" name="Google Shape;119;p10"/>
          <p:cNvGrpSpPr/>
          <p:nvPr/>
        </p:nvGrpSpPr>
        <p:grpSpPr>
          <a:xfrm rot="10800000" flipH="1">
            <a:off x="84" y="8"/>
            <a:ext cx="758573" cy="531131"/>
            <a:chOff x="0" y="266575"/>
            <a:chExt cx="7503194" cy="1687200"/>
          </a:xfrm>
        </p:grpSpPr>
        <p:sp>
          <p:nvSpPr>
            <p:cNvPr id="120" name="Google Shape;120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241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8" r:id="rId2"/>
    <p:sldLayoutId id="2147483659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TVillage-Kevin/spring-reactive-01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ko-KR" altLang="en-US" sz="44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마블</a:t>
            </a:r>
            <a:r>
              <a:rPr lang="ko-KR" altLang="en-US" sz="4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다이어그램으로 이해하는 </a:t>
            </a:r>
            <a:r>
              <a:rPr lang="en-US" altLang="ko-KR" sz="4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Publisher</a:t>
            </a:r>
            <a:r>
              <a:rPr lang="ko-KR" altLang="en-US" sz="4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 </a:t>
            </a:r>
            <a:endParaRPr lang="en-US" altLang="ko-KR" sz="4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Mono(an Asynchronous 0-1 Result)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" name="Google Shape;168;p16">
            <a:extLst>
              <a:ext uri="{FF2B5EF4-FFF2-40B4-BE49-F238E27FC236}">
                <a16:creationId xmlns:a16="http://schemas.microsoft.com/office/drawing/2014/main" id="{5C13A6F9-6C8E-40A8-907B-B623652C0971}"/>
              </a:ext>
            </a:extLst>
          </p:cNvPr>
          <p:cNvSpPr txBox="1">
            <a:spLocks/>
          </p:cNvSpPr>
          <p:nvPr/>
        </p:nvSpPr>
        <p:spPr>
          <a:xfrm>
            <a:off x="1206100" y="1178501"/>
            <a:ext cx="7026900" cy="286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</a:t>
            </a:r>
            <a:r>
              <a:rPr lang="ko-KR" altLang="en-US" sz="1400" b="1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개 또</a:t>
            </a:r>
            <a:r>
              <a:rPr lang="ko-KR" altLang="en-US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는 </a:t>
            </a:r>
            <a:r>
              <a:rPr lang="en-US" altLang="ko-KR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1</a:t>
            </a:r>
            <a:r>
              <a:rPr lang="ko-KR" altLang="en-US" sz="1400" b="1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개</a:t>
            </a:r>
            <a:r>
              <a:rPr lang="ko-KR" altLang="en-US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의 데이터를 </a:t>
            </a:r>
            <a:r>
              <a:rPr lang="en-US" altLang="ko-KR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emit</a:t>
            </a:r>
            <a:r>
              <a:rPr lang="ko-KR" altLang="en-US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하는 </a:t>
            </a:r>
            <a:r>
              <a:rPr lang="en-US" altLang="ko-KR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Publisher</a:t>
            </a:r>
            <a:r>
              <a:rPr lang="ko-KR" altLang="en-US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이다</a:t>
            </a:r>
            <a:r>
              <a:rPr lang="en-US" altLang="ko-KR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.(Compare with RxJava Maybe)</a:t>
            </a:r>
            <a:endParaRPr lang="ko-KR" altLang="en-US" sz="1400">
              <a:solidFill>
                <a:srgbClr val="003399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Google Shape;168;p16">
            <a:extLst>
              <a:ext uri="{FF2B5EF4-FFF2-40B4-BE49-F238E27FC236}">
                <a16:creationId xmlns:a16="http://schemas.microsoft.com/office/drawing/2014/main" id="{944C13AE-0A51-44DE-9067-0E3CCA283D5F}"/>
              </a:ext>
            </a:extLst>
          </p:cNvPr>
          <p:cNvSpPr txBox="1">
            <a:spLocks/>
          </p:cNvSpPr>
          <p:nvPr/>
        </p:nvSpPr>
        <p:spPr>
          <a:xfrm>
            <a:off x="1206100" y="1452413"/>
            <a:ext cx="7026900" cy="286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데이터 </a:t>
            </a:r>
            <a:r>
              <a:rPr lang="en-US" altLang="ko-KR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emit </a:t>
            </a:r>
            <a:r>
              <a:rPr lang="ko-KR" altLang="en-US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과정에서 에러가 </a:t>
            </a:r>
            <a:r>
              <a:rPr lang="ko-KR" altLang="en-US" sz="1400" b="1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발생</a:t>
            </a:r>
            <a:r>
              <a:rPr lang="ko-KR" altLang="en-US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하</a:t>
            </a:r>
            <a:r>
              <a:rPr lang="ko-KR" altLang="en-US" sz="1400" b="1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면</a:t>
            </a:r>
            <a:r>
              <a:rPr lang="ko-KR" altLang="en-US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en-US" altLang="ko-KR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onError signal</a:t>
            </a:r>
            <a:r>
              <a:rPr lang="ko-KR" altLang="en-US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을 </a:t>
            </a:r>
            <a:r>
              <a:rPr lang="en-US" altLang="ko-KR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emit</a:t>
            </a:r>
            <a:r>
              <a:rPr lang="ko-KR" altLang="en-US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한다</a:t>
            </a:r>
            <a:r>
              <a:rPr lang="en-US" altLang="ko-KR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sz="1400">
              <a:solidFill>
                <a:srgbClr val="003399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850C664-625E-42D1-848F-D0517FA9FC29}"/>
              </a:ext>
            </a:extLst>
          </p:cNvPr>
          <p:cNvGrpSpPr/>
          <p:nvPr/>
        </p:nvGrpSpPr>
        <p:grpSpPr>
          <a:xfrm>
            <a:off x="2572815" y="2226781"/>
            <a:ext cx="3561053" cy="2722575"/>
            <a:chOff x="2572815" y="2249083"/>
            <a:chExt cx="3561053" cy="272257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CF16428A-0CB8-4232-9500-1B3820FDD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72815" y="2307336"/>
              <a:ext cx="3362266" cy="2664322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01A63CE-7F8F-4404-B5DE-C41D0BF04986}"/>
                </a:ext>
              </a:extLst>
            </p:cNvPr>
            <p:cNvSpPr/>
            <p:nvPr/>
          </p:nvSpPr>
          <p:spPr>
            <a:xfrm>
              <a:off x="5111557" y="2249083"/>
              <a:ext cx="1022311" cy="2271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C5B3AC8-A6EC-4104-AE73-849F574CC4EC}"/>
              </a:ext>
            </a:extLst>
          </p:cNvPr>
          <p:cNvSpPr txBox="1"/>
          <p:nvPr/>
        </p:nvSpPr>
        <p:spPr>
          <a:xfrm>
            <a:off x="2224625" y="4923372"/>
            <a:ext cx="42418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ko-KR" altLang="en-US" sz="800">
                <a:latin typeface="나눔고딕" panose="020B0600000101010101" charset="-127"/>
                <a:ea typeface="나눔고딕" panose="020B0600000101010101" charset="-127"/>
              </a:rPr>
              <a:t>원본 이미지</a:t>
            </a:r>
            <a:r>
              <a:rPr lang="en-US" altLang="ko-KR" sz="800">
                <a:latin typeface="나눔고딕" panose="020B0600000101010101" charset="-127"/>
                <a:ea typeface="나눔고딕" panose="020B0600000101010101" charset="-127"/>
              </a:rPr>
              <a:t>: https://projectreactor.io/docs/core/release/reference/index.html#mono] </a:t>
            </a:r>
            <a:endParaRPr lang="ko-KR" altLang="en-US" sz="80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302822-40FF-4843-A93D-177EED55030E}"/>
              </a:ext>
            </a:extLst>
          </p:cNvPr>
          <p:cNvSpPr txBox="1"/>
          <p:nvPr/>
        </p:nvSpPr>
        <p:spPr>
          <a:xfrm>
            <a:off x="1082729" y="2474494"/>
            <a:ext cx="16450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Upstream</a:t>
            </a:r>
            <a:r>
              <a:rPr lang="ko-KR" altLang="en-US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r>
              <a:rPr lang="en-US" altLang="ko-KR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Mono</a:t>
            </a:r>
            <a:r>
              <a:rPr lang="ko-KR" altLang="en-US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</a:t>
            </a:r>
            <a:r>
              <a:rPr lang="ko-KR" altLang="en-US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타</a:t>
            </a:r>
            <a:r>
              <a:rPr lang="ko-KR" altLang="en-US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임라인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D791FB-27DC-4C9A-8ED4-078595F080AF}"/>
              </a:ext>
            </a:extLst>
          </p:cNvPr>
          <p:cNvSpPr txBox="1"/>
          <p:nvPr/>
        </p:nvSpPr>
        <p:spPr>
          <a:xfrm>
            <a:off x="923518" y="4569435"/>
            <a:ext cx="180850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Downstream Mono</a:t>
            </a:r>
            <a:r>
              <a:rPr lang="ko-KR" altLang="en-US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</a:t>
            </a:r>
            <a:r>
              <a:rPr lang="ko-KR" altLang="en-US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타</a:t>
            </a:r>
            <a:r>
              <a:rPr lang="ko-KR" altLang="en-US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임라인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369495-FE19-4080-A811-659CFEBF4D90}"/>
              </a:ext>
            </a:extLst>
          </p:cNvPr>
          <p:cNvSpPr txBox="1"/>
          <p:nvPr/>
        </p:nvSpPr>
        <p:spPr>
          <a:xfrm>
            <a:off x="3185156" y="2169618"/>
            <a:ext cx="14750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Mono </a:t>
            </a:r>
            <a:r>
              <a:rPr lang="ko-KR" altLang="en-US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</a:t>
            </a:r>
            <a:r>
              <a:rPr lang="en-US" altLang="ko-KR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된 데이터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9251A3-C536-42F9-AB1C-7B7C97126B6E}"/>
              </a:ext>
            </a:extLst>
          </p:cNvPr>
          <p:cNvSpPr txBox="1"/>
          <p:nvPr/>
        </p:nvSpPr>
        <p:spPr>
          <a:xfrm>
            <a:off x="4660240" y="2038823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Mono</a:t>
            </a:r>
            <a:r>
              <a:rPr lang="ko-KR" altLang="en-US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</a:t>
            </a:r>
            <a:r>
              <a:rPr lang="en-US" altLang="ko-KR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 </a:t>
            </a:r>
            <a:r>
              <a:rPr lang="ko-KR" altLang="en-US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과정 </a:t>
            </a:r>
            <a:r>
              <a:rPr lang="ko-KR" altLang="en-US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종료</a:t>
            </a:r>
            <a:r>
              <a:rPr lang="en-US" altLang="ko-KR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  <a:p>
            <a:r>
              <a:rPr lang="en-US" altLang="ko-KR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onComplete</a:t>
            </a:r>
            <a:r>
              <a:rPr lang="ko-KR" altLang="en-US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r>
              <a:rPr lang="en-US" altLang="ko-KR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signal</a:t>
            </a:r>
            <a:r>
              <a:rPr lang="ko-KR" altLang="en-US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</a:t>
            </a:r>
            <a:r>
              <a:rPr lang="en-US" altLang="ko-KR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한다</a:t>
            </a:r>
            <a:r>
              <a:rPr lang="en-US" altLang="ko-KR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endParaRPr lang="ko-KR" altLang="en-US" sz="9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ABE027-FD35-4546-8E13-0EF21CE8A89E}"/>
              </a:ext>
            </a:extLst>
          </p:cNvPr>
          <p:cNvSpPr txBox="1"/>
          <p:nvPr/>
        </p:nvSpPr>
        <p:spPr>
          <a:xfrm>
            <a:off x="5675001" y="3501779"/>
            <a:ext cx="16257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</a:t>
            </a:r>
            <a:r>
              <a:rPr lang="ko-KR" altLang="en-US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통한 데이터 가공</a:t>
            </a:r>
            <a:endParaRPr lang="ko-KR" altLang="en-US" sz="9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F9E488-2369-47CB-B243-C3627CDD03A1}"/>
              </a:ext>
            </a:extLst>
          </p:cNvPr>
          <p:cNvSpPr txBox="1"/>
          <p:nvPr/>
        </p:nvSpPr>
        <p:spPr>
          <a:xfrm>
            <a:off x="3921261" y="4171853"/>
            <a:ext cx="2278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Mono</a:t>
            </a:r>
            <a:r>
              <a:rPr lang="ko-KR" altLang="en-US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처리가 비정상적으로</a:t>
            </a:r>
            <a:endParaRPr lang="en-US" altLang="ko-KR" sz="9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  <a:p>
            <a:r>
              <a:rPr lang="ko-KR" altLang="en-US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종료 될 경우 </a:t>
            </a:r>
            <a:r>
              <a:rPr lang="en-US" altLang="ko-KR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onError signal</a:t>
            </a:r>
            <a:r>
              <a:rPr lang="ko-KR" altLang="en-US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</a:t>
            </a:r>
            <a:r>
              <a:rPr lang="en-US" altLang="ko-KR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한다</a:t>
            </a:r>
            <a:r>
              <a:rPr lang="en-US" altLang="ko-KR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endParaRPr lang="ko-KR" altLang="en-US" sz="9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1546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4" grpId="0"/>
      <p:bldP spid="15" grpId="0"/>
      <p:bldP spid="16" grpId="0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Flux(an Asynchronous Sequence of 0-N Items)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" name="Google Shape;168;p16">
            <a:extLst>
              <a:ext uri="{FF2B5EF4-FFF2-40B4-BE49-F238E27FC236}">
                <a16:creationId xmlns:a16="http://schemas.microsoft.com/office/drawing/2014/main" id="{5C13A6F9-6C8E-40A8-907B-B623652C0971}"/>
              </a:ext>
            </a:extLst>
          </p:cNvPr>
          <p:cNvSpPr txBox="1">
            <a:spLocks/>
          </p:cNvSpPr>
          <p:nvPr/>
        </p:nvSpPr>
        <p:spPr>
          <a:xfrm>
            <a:off x="1206100" y="1178501"/>
            <a:ext cx="7026900" cy="286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 </a:t>
            </a:r>
            <a:r>
              <a:rPr lang="ko-KR" altLang="en-US" sz="1400" b="1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개 </a:t>
            </a:r>
            <a:r>
              <a:rPr lang="en-US" altLang="ko-KR" sz="1400" b="1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~</a:t>
            </a:r>
            <a:r>
              <a:rPr lang="ko-KR" altLang="en-US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en-US" altLang="ko-KR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N </a:t>
            </a:r>
            <a:r>
              <a:rPr lang="ko-KR" altLang="en-US" sz="1400" b="1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개</a:t>
            </a:r>
            <a:r>
              <a:rPr lang="ko-KR" altLang="en-US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의 데이터를 </a:t>
            </a:r>
            <a:r>
              <a:rPr lang="en-US" altLang="ko-KR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emit</a:t>
            </a:r>
            <a:r>
              <a:rPr lang="ko-KR" altLang="en-US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하는 </a:t>
            </a:r>
            <a:r>
              <a:rPr lang="en-US" altLang="ko-KR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Publisher</a:t>
            </a:r>
            <a:r>
              <a:rPr lang="ko-KR" altLang="en-US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이다</a:t>
            </a:r>
            <a:r>
              <a:rPr lang="en-US" altLang="ko-KR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sz="1400">
              <a:solidFill>
                <a:srgbClr val="003399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Google Shape;168;p16">
            <a:extLst>
              <a:ext uri="{FF2B5EF4-FFF2-40B4-BE49-F238E27FC236}">
                <a16:creationId xmlns:a16="http://schemas.microsoft.com/office/drawing/2014/main" id="{944C13AE-0A51-44DE-9067-0E3CCA283D5F}"/>
              </a:ext>
            </a:extLst>
          </p:cNvPr>
          <p:cNvSpPr txBox="1">
            <a:spLocks/>
          </p:cNvSpPr>
          <p:nvPr/>
        </p:nvSpPr>
        <p:spPr>
          <a:xfrm>
            <a:off x="1206100" y="1452413"/>
            <a:ext cx="7026900" cy="286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데이터 </a:t>
            </a:r>
            <a:r>
              <a:rPr lang="en-US" altLang="ko-KR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emit </a:t>
            </a:r>
            <a:r>
              <a:rPr lang="ko-KR" altLang="en-US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과정에서 에러가 </a:t>
            </a:r>
            <a:r>
              <a:rPr lang="ko-KR" altLang="en-US" sz="1400" b="1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발생</a:t>
            </a:r>
            <a:r>
              <a:rPr lang="ko-KR" altLang="en-US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하</a:t>
            </a:r>
            <a:r>
              <a:rPr lang="ko-KR" altLang="en-US" sz="1400" b="1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면</a:t>
            </a:r>
            <a:r>
              <a:rPr lang="ko-KR" altLang="en-US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en-US" altLang="ko-KR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onError signal</a:t>
            </a:r>
            <a:r>
              <a:rPr lang="ko-KR" altLang="en-US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을 </a:t>
            </a:r>
            <a:r>
              <a:rPr lang="en-US" altLang="ko-KR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emit</a:t>
            </a:r>
            <a:r>
              <a:rPr lang="ko-KR" altLang="en-US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한다</a:t>
            </a:r>
            <a:r>
              <a:rPr lang="en-US" altLang="ko-KR" sz="1400">
                <a:solidFill>
                  <a:srgbClr val="003399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sz="1400">
              <a:solidFill>
                <a:srgbClr val="003399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302822-40FF-4843-A93D-177EED55030E}"/>
              </a:ext>
            </a:extLst>
          </p:cNvPr>
          <p:cNvSpPr txBox="1"/>
          <p:nvPr/>
        </p:nvSpPr>
        <p:spPr>
          <a:xfrm>
            <a:off x="1095492" y="2474494"/>
            <a:ext cx="15616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Upstream</a:t>
            </a:r>
            <a:r>
              <a:rPr lang="ko-KR" altLang="en-US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r>
              <a:rPr lang="en-US" altLang="ko-KR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Flux</a:t>
            </a:r>
            <a:r>
              <a:rPr lang="ko-KR" altLang="en-US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</a:t>
            </a:r>
            <a:r>
              <a:rPr lang="ko-KR" altLang="en-US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타</a:t>
            </a:r>
            <a:r>
              <a:rPr lang="ko-KR" altLang="en-US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임라인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D791FB-27DC-4C9A-8ED4-078595F080AF}"/>
              </a:ext>
            </a:extLst>
          </p:cNvPr>
          <p:cNvSpPr txBox="1"/>
          <p:nvPr/>
        </p:nvSpPr>
        <p:spPr>
          <a:xfrm>
            <a:off x="1013739" y="4399662"/>
            <a:ext cx="17251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Downstream Flux</a:t>
            </a:r>
            <a:r>
              <a:rPr lang="ko-KR" altLang="en-US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</a:t>
            </a:r>
            <a:r>
              <a:rPr lang="ko-KR" altLang="en-US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타</a:t>
            </a:r>
            <a:r>
              <a:rPr lang="ko-KR" altLang="en-US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임라인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369495-FE19-4080-A811-659CFEBF4D90}"/>
              </a:ext>
            </a:extLst>
          </p:cNvPr>
          <p:cNvSpPr txBox="1"/>
          <p:nvPr/>
        </p:nvSpPr>
        <p:spPr>
          <a:xfrm>
            <a:off x="3472594" y="2169618"/>
            <a:ext cx="14975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Flux </a:t>
            </a:r>
            <a:r>
              <a:rPr lang="ko-KR" altLang="en-US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</a:t>
            </a:r>
            <a:r>
              <a:rPr lang="en-US" altLang="ko-KR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된 데이터들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ABE027-FD35-4546-8E13-0EF21CE8A89E}"/>
              </a:ext>
            </a:extLst>
          </p:cNvPr>
          <p:cNvSpPr txBox="1"/>
          <p:nvPr/>
        </p:nvSpPr>
        <p:spPr>
          <a:xfrm>
            <a:off x="6029392" y="3514358"/>
            <a:ext cx="16257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</a:t>
            </a:r>
            <a:r>
              <a:rPr lang="ko-KR" altLang="en-US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통한 데이터 가공</a:t>
            </a:r>
            <a:endParaRPr lang="ko-KR" altLang="en-US" sz="9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56D74F6-2D0A-48DC-BDBB-FE624C5889B9}"/>
              </a:ext>
            </a:extLst>
          </p:cNvPr>
          <p:cNvGrpSpPr/>
          <p:nvPr/>
        </p:nvGrpSpPr>
        <p:grpSpPr>
          <a:xfrm>
            <a:off x="2379405" y="2173406"/>
            <a:ext cx="4173419" cy="2900278"/>
            <a:chOff x="2379405" y="2173406"/>
            <a:chExt cx="4173419" cy="290027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C5B3AC8-A6EC-4104-AE73-849F574CC4EC}"/>
                </a:ext>
              </a:extLst>
            </p:cNvPr>
            <p:cNvSpPr txBox="1"/>
            <p:nvPr/>
          </p:nvSpPr>
          <p:spPr>
            <a:xfrm>
              <a:off x="2379405" y="4858240"/>
              <a:ext cx="413767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>
                  <a:latin typeface="나눔고딕" panose="020B0600000101010101" charset="-127"/>
                  <a:ea typeface="나눔고딕" panose="020B0600000101010101" charset="-127"/>
                </a:rPr>
                <a:t>[</a:t>
              </a:r>
              <a:r>
                <a:rPr lang="ko-KR" altLang="en-US" sz="800">
                  <a:latin typeface="나눔고딕" panose="020B0600000101010101" charset="-127"/>
                  <a:ea typeface="나눔고딕" panose="020B0600000101010101" charset="-127"/>
                </a:rPr>
                <a:t>원본 이미지</a:t>
              </a:r>
              <a:r>
                <a:rPr lang="en-US" altLang="ko-KR" sz="800">
                  <a:latin typeface="나눔고딕" panose="020B0600000101010101" charset="-127"/>
                  <a:ea typeface="나눔고딕" panose="020B0600000101010101" charset="-127"/>
                </a:rPr>
                <a:t>: https://projectreactor.io/docs/core/release/reference/index.html#flux] </a:t>
              </a:r>
              <a:endParaRPr lang="ko-KR" altLang="en-US" sz="800"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41BDD68F-99AE-430D-989A-667006FAB11C}"/>
                </a:ext>
              </a:extLst>
            </p:cNvPr>
            <p:cNvGrpSpPr/>
            <p:nvPr/>
          </p:nvGrpSpPr>
          <p:grpSpPr>
            <a:xfrm>
              <a:off x="2661724" y="2173406"/>
              <a:ext cx="3891100" cy="2652812"/>
              <a:chOff x="2661724" y="2173406"/>
              <a:chExt cx="3891100" cy="2652812"/>
            </a:xfrm>
          </p:grpSpPr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89F024B8-FD2D-4D74-A6AA-BB37718894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61724" y="2356204"/>
                <a:ext cx="3367668" cy="2470014"/>
              </a:xfrm>
              <a:prstGeom prst="rect">
                <a:avLst/>
              </a:prstGeom>
            </p:spPr>
          </p:pic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57E1D012-ABA4-40E5-A29D-706A6ED9B860}"/>
                  </a:ext>
                </a:extLst>
              </p:cNvPr>
              <p:cNvSpPr/>
              <p:nvPr/>
            </p:nvSpPr>
            <p:spPr>
              <a:xfrm>
                <a:off x="5530513" y="2173406"/>
                <a:ext cx="1022311" cy="2271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F9251A3-C536-42F9-AB1C-7B7C97126B6E}"/>
              </a:ext>
            </a:extLst>
          </p:cNvPr>
          <p:cNvSpPr txBox="1"/>
          <p:nvPr/>
        </p:nvSpPr>
        <p:spPr>
          <a:xfrm>
            <a:off x="5112567" y="2054823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Flux</a:t>
            </a:r>
            <a:r>
              <a:rPr lang="ko-KR" altLang="en-US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</a:t>
            </a:r>
            <a:r>
              <a:rPr lang="en-US" altLang="ko-KR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 </a:t>
            </a:r>
            <a:r>
              <a:rPr lang="ko-KR" altLang="en-US" sz="9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과정 </a:t>
            </a:r>
            <a:r>
              <a:rPr lang="ko-KR" altLang="en-US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종료</a:t>
            </a:r>
            <a:endParaRPr lang="en-US" altLang="ko-KR" sz="9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  <a:p>
            <a:r>
              <a:rPr lang="en-US" altLang="ko-KR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onComplete</a:t>
            </a:r>
            <a:r>
              <a:rPr lang="ko-KR" altLang="en-US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r>
              <a:rPr lang="en-US" altLang="ko-KR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signal</a:t>
            </a:r>
            <a:r>
              <a:rPr lang="ko-KR" altLang="en-US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</a:t>
            </a:r>
            <a:r>
              <a:rPr lang="en-US" altLang="ko-KR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한다</a:t>
            </a:r>
            <a:r>
              <a:rPr lang="en-US" altLang="ko-KR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endParaRPr lang="ko-KR" altLang="en-US" sz="9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F9E488-2369-47CB-B243-C3627CDD03A1}"/>
              </a:ext>
            </a:extLst>
          </p:cNvPr>
          <p:cNvSpPr txBox="1"/>
          <p:nvPr/>
        </p:nvSpPr>
        <p:spPr>
          <a:xfrm>
            <a:off x="5060360" y="4046571"/>
            <a:ext cx="2278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Flux</a:t>
            </a:r>
            <a:r>
              <a:rPr lang="ko-KR" altLang="en-US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처리가 비정상적으로</a:t>
            </a:r>
            <a:endParaRPr lang="en-US" altLang="ko-KR" sz="9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  <a:p>
            <a:r>
              <a:rPr lang="ko-KR" altLang="en-US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종료 될 경우 </a:t>
            </a:r>
            <a:r>
              <a:rPr lang="en-US" altLang="ko-KR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onError signal</a:t>
            </a:r>
            <a:r>
              <a:rPr lang="ko-KR" altLang="en-US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</a:t>
            </a:r>
            <a:r>
              <a:rPr lang="en-US" altLang="ko-KR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한다</a:t>
            </a:r>
            <a:r>
              <a:rPr lang="en-US" altLang="ko-KR" sz="9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endParaRPr lang="ko-KR" altLang="en-US" sz="9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003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4" grpId="0"/>
      <p:bldP spid="15" grpId="0"/>
      <p:bldP spid="17" grpId="0"/>
      <p:bldP spid="16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6;p25">
            <a:extLst>
              <a:ext uri="{FF2B5EF4-FFF2-40B4-BE49-F238E27FC236}">
                <a16:creationId xmlns:a16="http://schemas.microsoft.com/office/drawing/2014/main" id="{819E02CA-6AA4-4C1F-A00A-8D938F3CFAC9}"/>
              </a:ext>
            </a:extLst>
          </p:cNvPr>
          <p:cNvSpPr txBox="1">
            <a:spLocks/>
          </p:cNvSpPr>
          <p:nvPr/>
        </p:nvSpPr>
        <p:spPr>
          <a:xfrm>
            <a:off x="685800" y="1683170"/>
            <a:ext cx="7772400" cy="1159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en-US" altLang="ko-KR" sz="3600" b="1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Cold Sequence</a:t>
            </a:r>
            <a:r>
              <a:rPr lang="ko-KR" altLang="en-US" sz="3600" b="1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와 </a:t>
            </a:r>
            <a:r>
              <a:rPr lang="en-US" altLang="ko-KR" sz="3600" b="1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Hot Sequence</a:t>
            </a:r>
            <a:r>
              <a:rPr lang="en-US" altLang="ko-KR" sz="36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endParaRPr lang="ko-KR" altLang="en-US" sz="36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Google Shape;267;p25">
            <a:extLst>
              <a:ext uri="{FF2B5EF4-FFF2-40B4-BE49-F238E27FC236}">
                <a16:creationId xmlns:a16="http://schemas.microsoft.com/office/drawing/2014/main" id="{DECF2217-810F-4571-BBF1-67DAD149149A}"/>
              </a:ext>
            </a:extLst>
          </p:cNvPr>
          <p:cNvSpPr txBox="1">
            <a:spLocks/>
          </p:cNvSpPr>
          <p:nvPr/>
        </p:nvSpPr>
        <p:spPr>
          <a:xfrm>
            <a:off x="685800" y="3763983"/>
            <a:ext cx="7772400" cy="1034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 marL="0" indent="0">
              <a:buFont typeface="Encode Sans Semi Condensed Light"/>
              <a:buNone/>
            </a:pPr>
            <a:r>
              <a:rPr lang="ko-KR" altLang="en-US" sz="20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전체 소스 코드 다운로드 주소</a:t>
            </a:r>
          </a:p>
          <a:p>
            <a:pPr marL="0" indent="0">
              <a:buFont typeface="Encode Sans Semi Condensed Light"/>
              <a:buNone/>
            </a:pPr>
            <a:r>
              <a:rPr lang="en-US" altLang="ko-KR" sz="2000">
                <a:latin typeface="나눔고딕 ExtraBold" panose="020D0904000000000000" pitchFamily="50" charset="-127"/>
                <a:ea typeface="나눔고딕 ExtraBold" panose="020D0904000000000000" pitchFamily="50" charset="-127"/>
                <a:hlinkClick r:id="rId3"/>
              </a:rPr>
              <a:t>https://github.com/ITVillage-Kevin/spring-reactive-01</a:t>
            </a:r>
            <a:endParaRPr lang="ko-KR" altLang="en-US" sz="20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Google Shape;380;p33">
            <a:extLst>
              <a:ext uri="{FF2B5EF4-FFF2-40B4-BE49-F238E27FC236}">
                <a16:creationId xmlns:a16="http://schemas.microsoft.com/office/drawing/2014/main" id="{4277BB4C-F14B-4DAC-A9F9-09D6BF076B56}"/>
              </a:ext>
            </a:extLst>
          </p:cNvPr>
          <p:cNvSpPr txBox="1">
            <a:spLocks/>
          </p:cNvSpPr>
          <p:nvPr/>
        </p:nvSpPr>
        <p:spPr>
          <a:xfrm>
            <a:off x="0" y="475776"/>
            <a:ext cx="9144000" cy="7764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ko-KR" altLang="en-US" sz="4000">
                <a:solidFill>
                  <a:schemeClr val="accent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다음 시간 강의</a:t>
            </a:r>
            <a:endParaRPr lang="en-US" sz="4000">
              <a:solidFill>
                <a:schemeClr val="accent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1638</TotalTime>
  <Words>232</Words>
  <Application>Microsoft Office PowerPoint</Application>
  <PresentationFormat>화면 슬라이드 쇼(16:9)</PresentationFormat>
  <Paragraphs>31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Arial</vt:lpstr>
      <vt:lpstr>나눔고딕 ExtraBold</vt:lpstr>
      <vt:lpstr>나눔스퀘어라운드 ExtraBold</vt:lpstr>
      <vt:lpstr>Encode Sans Semi Condensed Light</vt:lpstr>
      <vt:lpstr>Encode Sans Semi Condensed SemiBold</vt:lpstr>
      <vt:lpstr>나눔고딕</vt:lpstr>
      <vt:lpstr>Ferdinand template</vt:lpstr>
      <vt:lpstr>Kevin의 알기 쉬운 </vt:lpstr>
      <vt:lpstr>Mono(an Asynchronous 0-1 Result)</vt:lpstr>
      <vt:lpstr>Flux(an Asynchronous Sequence of 0-N Items)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황정식</cp:lastModifiedBy>
  <cp:revision>117</cp:revision>
  <dcterms:modified xsi:type="dcterms:W3CDTF">2022-02-08T14:35:40Z</dcterms:modified>
</cp:coreProperties>
</file>