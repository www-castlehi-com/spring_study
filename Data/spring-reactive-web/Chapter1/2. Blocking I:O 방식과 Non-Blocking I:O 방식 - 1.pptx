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90" r:id="rId3"/>
    <p:sldId id="287" r:id="rId4"/>
    <p:sldId id="291" r:id="rId5"/>
    <p:sldId id="285" r:id="rId6"/>
    <p:sldId id="292" r:id="rId7"/>
    <p:sldId id="293" r:id="rId8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10"/>
    </p:embeddedFont>
    <p:embeddedFont>
      <p:font typeface="Encode Sans Semi Condensed Light" panose="020B0600000101010101" charset="0"/>
      <p:regular r:id="rId11"/>
      <p:bold r:id="rId12"/>
    </p:embeddedFont>
    <p:embeddedFont>
      <p:font typeface="Encode Sans Semi Condensed SemiBold" panose="00000706000000000000" charset="0"/>
      <p:regular r:id="rId13"/>
      <p:bold r:id="rId14"/>
    </p:embeddedFont>
    <p:embeddedFont>
      <p:font typeface="나눔바른고딕" panose="020B0603020101020101" pitchFamily="50" charset="-127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99FF"/>
    <a:srgbClr val="99CCFF"/>
    <a:srgbClr val="6DB33F"/>
    <a:srgbClr val="90A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4433" autoAdjust="0"/>
  </p:normalViewPr>
  <p:slideViewPr>
    <p:cSldViewPr snapToGrid="0">
      <p:cViewPr varScale="1">
        <p:scale>
          <a:sx n="93" d="100"/>
          <a:sy n="93" d="100"/>
        </p:scale>
        <p:origin x="212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580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06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602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131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75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806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Blocking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I/O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방식과 </a:t>
            </a:r>
            <a:endParaRPr lang="en-US" altLang="ko-KR" sz="4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  <a:p>
            <a:r>
              <a:rPr lang="en-US" altLang="ko-KR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Non-Blocking I/O</a:t>
            </a:r>
            <a:r>
              <a:rPr lang="ko-KR" altLang="en-US" sz="4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 이해하기 </a:t>
            </a:r>
            <a:endParaRPr lang="en-US" altLang="ko-KR" sz="4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FA3773ED-56C8-4CA3-B25F-D0A9AA399A5F}"/>
              </a:ext>
            </a:extLst>
          </p:cNvPr>
          <p:cNvSpPr/>
          <p:nvPr/>
        </p:nvSpPr>
        <p:spPr>
          <a:xfrm>
            <a:off x="2411432" y="1938085"/>
            <a:ext cx="900745" cy="969519"/>
          </a:xfrm>
          <a:prstGeom prst="rect">
            <a:avLst/>
          </a:prstGeom>
          <a:solidFill>
            <a:schemeClr val="accent1">
              <a:alpha val="51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Blocking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I/O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그림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A42E31-8D1D-4A46-8DC3-62F43ABADCF4}"/>
              </a:ext>
            </a:extLst>
          </p:cNvPr>
          <p:cNvCxnSpPr>
            <a:cxnSpLocks/>
          </p:cNvCxnSpPr>
          <p:nvPr/>
        </p:nvCxnSpPr>
        <p:spPr>
          <a:xfrm>
            <a:off x="985241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oogle Shape;550;p36">
            <a:extLst>
              <a:ext uri="{FF2B5EF4-FFF2-40B4-BE49-F238E27FC236}">
                <a16:creationId xmlns:a16="http://schemas.microsoft.com/office/drawing/2014/main" id="{3EDB33C7-7997-4434-836F-862308B00348}"/>
              </a:ext>
            </a:extLst>
          </p:cNvPr>
          <p:cNvGrpSpPr/>
          <p:nvPr/>
        </p:nvGrpSpPr>
        <p:grpSpPr>
          <a:xfrm>
            <a:off x="1039067" y="1982228"/>
            <a:ext cx="339038" cy="326512"/>
            <a:chOff x="2583325" y="2972875"/>
            <a:chExt cx="462850" cy="445750"/>
          </a:xfrm>
        </p:grpSpPr>
        <p:sp>
          <p:nvSpPr>
            <p:cNvPr id="10" name="Google Shape;551;p36">
              <a:extLst>
                <a:ext uri="{FF2B5EF4-FFF2-40B4-BE49-F238E27FC236}">
                  <a16:creationId xmlns:a16="http://schemas.microsoft.com/office/drawing/2014/main" id="{53A35370-9510-43EC-B25D-A1777F06A2A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52;p36">
              <a:extLst>
                <a:ext uri="{FF2B5EF4-FFF2-40B4-BE49-F238E27FC236}">
                  <a16:creationId xmlns:a16="http://schemas.microsoft.com/office/drawing/2014/main" id="{80B5C583-71C1-4950-87AA-C595E792F6B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AC8CAF-F06E-436C-B699-50A03127F1C0}"/>
              </a:ext>
            </a:extLst>
          </p:cNvPr>
          <p:cNvSpPr txBox="1"/>
          <p:nvPr/>
        </p:nvSpPr>
        <p:spPr>
          <a:xfrm>
            <a:off x="0" y="2000312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/>
              <a:t>클라이언트 </a:t>
            </a:r>
            <a:r>
              <a:rPr lang="en-US" altLang="ko-KR" sz="1000" b="1"/>
              <a:t>PC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FB655B-C28E-48B6-A7EA-3BBFF06D1F31}"/>
              </a:ext>
            </a:extLst>
          </p:cNvPr>
          <p:cNvSpPr txBox="1"/>
          <p:nvPr/>
        </p:nvSpPr>
        <p:spPr>
          <a:xfrm>
            <a:off x="65723" y="2800570"/>
            <a:ext cx="9733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/>
              <a:t>본사 </a:t>
            </a:r>
            <a:r>
              <a:rPr lang="en-US" altLang="ko-KR" sz="1000" b="1"/>
              <a:t>API </a:t>
            </a:r>
            <a:r>
              <a:rPr lang="ko-KR" altLang="en-US" sz="1000" b="1"/>
              <a:t>서버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24152-D87B-439B-BA3F-89EC1372A673}"/>
              </a:ext>
            </a:extLst>
          </p:cNvPr>
          <p:cNvSpPr txBox="1"/>
          <p:nvPr/>
        </p:nvSpPr>
        <p:spPr>
          <a:xfrm>
            <a:off x="65723" y="3639498"/>
            <a:ext cx="9733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/>
              <a:t>지점 </a:t>
            </a:r>
            <a:r>
              <a:rPr lang="en-US" altLang="ko-KR" sz="1000" b="1"/>
              <a:t>API </a:t>
            </a:r>
            <a:r>
              <a:rPr lang="ko-KR" altLang="en-US" sz="1000" b="1"/>
              <a:t>서버</a:t>
            </a:r>
            <a:endParaRPr lang="en-US" altLang="ko-KR" sz="1000" b="1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3CF2A71-FE6E-4A2E-8F38-9AF13FBDDA66}"/>
              </a:ext>
            </a:extLst>
          </p:cNvPr>
          <p:cNvCxnSpPr>
            <a:cxnSpLocks/>
          </p:cNvCxnSpPr>
          <p:nvPr/>
        </p:nvCxnSpPr>
        <p:spPr>
          <a:xfrm>
            <a:off x="2411432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02C8CF3-FED9-446D-8EAB-D0A64E318775}"/>
              </a:ext>
            </a:extLst>
          </p:cNvPr>
          <p:cNvCxnSpPr>
            <a:cxnSpLocks/>
          </p:cNvCxnSpPr>
          <p:nvPr/>
        </p:nvCxnSpPr>
        <p:spPr>
          <a:xfrm flipH="1">
            <a:off x="2411433" y="2912178"/>
            <a:ext cx="6200304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D820695-1423-4CEA-997D-230234F1AAAE}"/>
              </a:ext>
            </a:extLst>
          </p:cNvPr>
          <p:cNvCxnSpPr>
            <a:cxnSpLocks/>
          </p:cNvCxnSpPr>
          <p:nvPr/>
        </p:nvCxnSpPr>
        <p:spPr>
          <a:xfrm>
            <a:off x="3312185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D077894-2725-4FD1-9CCF-2AECE882D19E}"/>
              </a:ext>
            </a:extLst>
          </p:cNvPr>
          <p:cNvCxnSpPr>
            <a:cxnSpLocks/>
          </p:cNvCxnSpPr>
          <p:nvPr/>
        </p:nvCxnSpPr>
        <p:spPr>
          <a:xfrm>
            <a:off x="6205510" y="2891052"/>
            <a:ext cx="0" cy="13244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04E918-B91E-4CD4-94E6-B8AAC3359865}"/>
              </a:ext>
            </a:extLst>
          </p:cNvPr>
          <p:cNvCxnSpPr>
            <a:cxnSpLocks/>
          </p:cNvCxnSpPr>
          <p:nvPr/>
        </p:nvCxnSpPr>
        <p:spPr>
          <a:xfrm>
            <a:off x="7625084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EA39F44-0E0D-4B62-B249-136764653689}"/>
              </a:ext>
            </a:extLst>
          </p:cNvPr>
          <p:cNvCxnSpPr>
            <a:cxnSpLocks/>
          </p:cNvCxnSpPr>
          <p:nvPr/>
        </p:nvCxnSpPr>
        <p:spPr>
          <a:xfrm flipH="1">
            <a:off x="3800901" y="3574095"/>
            <a:ext cx="2404609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5746523-8C44-45D9-A62E-4AEEEBFFE2DA}"/>
              </a:ext>
            </a:extLst>
          </p:cNvPr>
          <p:cNvGrpSpPr/>
          <p:nvPr/>
        </p:nvGrpSpPr>
        <p:grpSpPr>
          <a:xfrm>
            <a:off x="1253771" y="2229137"/>
            <a:ext cx="1157661" cy="661915"/>
            <a:chOff x="1253771" y="2229137"/>
            <a:chExt cx="1157661" cy="661915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5A2FA6D-2E1B-4E4F-B714-72C08586B8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78105" y="2229137"/>
              <a:ext cx="1033327" cy="661915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E773573-CD47-4F99-BBA8-F2A174969A05}"/>
                </a:ext>
              </a:extLst>
            </p:cNvPr>
            <p:cNvSpPr txBox="1"/>
            <p:nvPr/>
          </p:nvSpPr>
          <p:spPr>
            <a:xfrm>
              <a:off x="1253771" y="2413035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solidFill>
                    <a:srgbClr val="0066FF"/>
                  </a:solidFill>
                </a:rPr>
                <a:t>본사에 </a:t>
              </a:r>
              <a:endParaRPr lang="en-US" altLang="ko-KR" sz="900">
                <a:solidFill>
                  <a:srgbClr val="0066FF"/>
                </a:solidFill>
              </a:endParaRPr>
            </a:p>
            <a:p>
              <a:r>
                <a:rPr lang="ko-KR" altLang="en-US" sz="900">
                  <a:solidFill>
                    <a:srgbClr val="0066FF"/>
                  </a:solidFill>
                </a:rPr>
                <a:t>도서 요청</a:t>
              </a:r>
              <a:endParaRPr lang="en-US" altLang="ko-KR" sz="900">
                <a:solidFill>
                  <a:srgbClr val="0066FF"/>
                </a:solidFill>
              </a:endParaRPr>
            </a:p>
          </p:txBody>
        </p: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6D4FFC1-BF06-4B5F-8405-9717FA67F840}"/>
              </a:ext>
            </a:extLst>
          </p:cNvPr>
          <p:cNvCxnSpPr>
            <a:cxnSpLocks/>
          </p:cNvCxnSpPr>
          <p:nvPr/>
        </p:nvCxnSpPr>
        <p:spPr>
          <a:xfrm>
            <a:off x="3800901" y="2914532"/>
            <a:ext cx="0" cy="13010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D8360778-7348-4641-8D42-81297877C194}"/>
              </a:ext>
            </a:extLst>
          </p:cNvPr>
          <p:cNvGrpSpPr/>
          <p:nvPr/>
        </p:nvGrpSpPr>
        <p:grpSpPr>
          <a:xfrm>
            <a:off x="2990858" y="2912178"/>
            <a:ext cx="792940" cy="661917"/>
            <a:chOff x="2990858" y="2912178"/>
            <a:chExt cx="792940" cy="661917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A5C3F6FA-580C-45C3-B247-C1174E4086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2185" y="2912178"/>
              <a:ext cx="471613" cy="661917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731171-F8ED-4722-A900-9C50CC1C6F6F}"/>
                </a:ext>
              </a:extLst>
            </p:cNvPr>
            <p:cNvSpPr txBox="1"/>
            <p:nvPr/>
          </p:nvSpPr>
          <p:spPr>
            <a:xfrm>
              <a:off x="2990858" y="3073348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>
                  <a:solidFill>
                    <a:srgbClr val="0066FF"/>
                  </a:solidFill>
                </a:rPr>
                <a:t>지점에 </a:t>
              </a:r>
              <a:endParaRPr lang="en-US" altLang="ko-KR" sz="900">
                <a:solidFill>
                  <a:srgbClr val="0066FF"/>
                </a:solidFill>
              </a:endParaRPr>
            </a:p>
            <a:p>
              <a:r>
                <a:rPr lang="ko-KR" altLang="en-US" sz="900">
                  <a:solidFill>
                    <a:srgbClr val="0066FF"/>
                  </a:solidFill>
                </a:rPr>
                <a:t>도서 요청</a:t>
              </a:r>
              <a:endParaRPr lang="en-US" altLang="ko-KR" sz="900">
                <a:solidFill>
                  <a:srgbClr val="0066FF"/>
                </a:solidFill>
              </a:endParaRPr>
            </a:p>
          </p:txBody>
        </p: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81C80B2-A019-46A3-9D5C-615591650CE5}"/>
              </a:ext>
            </a:extLst>
          </p:cNvPr>
          <p:cNvCxnSpPr>
            <a:cxnSpLocks/>
          </p:cNvCxnSpPr>
          <p:nvPr/>
        </p:nvCxnSpPr>
        <p:spPr>
          <a:xfrm>
            <a:off x="6730949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oogle Shape;550;p36">
            <a:extLst>
              <a:ext uri="{FF2B5EF4-FFF2-40B4-BE49-F238E27FC236}">
                <a16:creationId xmlns:a16="http://schemas.microsoft.com/office/drawing/2014/main" id="{71622B2C-55E8-4608-976D-A2BE78CB750B}"/>
              </a:ext>
            </a:extLst>
          </p:cNvPr>
          <p:cNvGrpSpPr/>
          <p:nvPr/>
        </p:nvGrpSpPr>
        <p:grpSpPr>
          <a:xfrm>
            <a:off x="8381562" y="1982228"/>
            <a:ext cx="339038" cy="326512"/>
            <a:chOff x="2583325" y="2972875"/>
            <a:chExt cx="462850" cy="445750"/>
          </a:xfrm>
        </p:grpSpPr>
        <p:sp>
          <p:nvSpPr>
            <p:cNvPr id="47" name="Google Shape;551;p36">
              <a:extLst>
                <a:ext uri="{FF2B5EF4-FFF2-40B4-BE49-F238E27FC236}">
                  <a16:creationId xmlns:a16="http://schemas.microsoft.com/office/drawing/2014/main" id="{B009E2A4-FACC-4EEE-A114-495F507EB947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52;p36">
              <a:extLst>
                <a:ext uri="{FF2B5EF4-FFF2-40B4-BE49-F238E27FC236}">
                  <a16:creationId xmlns:a16="http://schemas.microsoft.com/office/drawing/2014/main" id="{D6A46573-4470-4571-AFAF-15C9CCE8EFB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1E6905A-5A56-4696-B4FB-E5D2DF7061C0}"/>
              </a:ext>
            </a:extLst>
          </p:cNvPr>
          <p:cNvCxnSpPr>
            <a:cxnSpLocks/>
          </p:cNvCxnSpPr>
          <p:nvPr/>
        </p:nvCxnSpPr>
        <p:spPr>
          <a:xfrm flipH="1">
            <a:off x="6222613" y="2923680"/>
            <a:ext cx="508337" cy="643686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F107617-201F-4FC9-AACB-E4AF39F52DCD}"/>
              </a:ext>
            </a:extLst>
          </p:cNvPr>
          <p:cNvSpPr txBox="1"/>
          <p:nvPr/>
        </p:nvSpPr>
        <p:spPr>
          <a:xfrm>
            <a:off x="6387403" y="3211123"/>
            <a:ext cx="9861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0066FF"/>
                </a:solidFill>
              </a:rPr>
              <a:t>응답</a:t>
            </a:r>
            <a:r>
              <a:rPr lang="en-US" altLang="ko-KR" sz="900">
                <a:solidFill>
                  <a:srgbClr val="0066FF"/>
                </a:solidFill>
              </a:rPr>
              <a:t>(</a:t>
            </a:r>
            <a:r>
              <a:rPr lang="ko-KR" altLang="en-US" sz="900">
                <a:solidFill>
                  <a:srgbClr val="0066FF"/>
                </a:solidFill>
              </a:rPr>
              <a:t>도서 반환</a:t>
            </a:r>
            <a:r>
              <a:rPr lang="en-US" altLang="ko-KR" sz="900">
                <a:solidFill>
                  <a:srgbClr val="0066FF"/>
                </a:solidFill>
              </a:rPr>
              <a:t>)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DCC2C817-9A42-44CD-B584-5A64C2FD0E21}"/>
              </a:ext>
            </a:extLst>
          </p:cNvPr>
          <p:cNvCxnSpPr>
            <a:cxnSpLocks/>
          </p:cNvCxnSpPr>
          <p:nvPr/>
        </p:nvCxnSpPr>
        <p:spPr>
          <a:xfrm flipH="1">
            <a:off x="7624147" y="2273845"/>
            <a:ext cx="733421" cy="633759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6EA5745-C62F-459C-9DB5-46F8F90D38A2}"/>
              </a:ext>
            </a:extLst>
          </p:cNvPr>
          <p:cNvSpPr txBox="1"/>
          <p:nvPr/>
        </p:nvSpPr>
        <p:spPr>
          <a:xfrm>
            <a:off x="7891233" y="2538467"/>
            <a:ext cx="9861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0066FF"/>
                </a:solidFill>
              </a:rPr>
              <a:t>응답</a:t>
            </a:r>
            <a:r>
              <a:rPr lang="en-US" altLang="ko-KR" sz="900">
                <a:solidFill>
                  <a:srgbClr val="0066FF"/>
                </a:solidFill>
              </a:rPr>
              <a:t>(</a:t>
            </a:r>
            <a:r>
              <a:rPr lang="ko-KR" altLang="en-US" sz="900">
                <a:solidFill>
                  <a:srgbClr val="0066FF"/>
                </a:solidFill>
              </a:rPr>
              <a:t>도서 반환</a:t>
            </a:r>
            <a:r>
              <a:rPr lang="en-US" altLang="ko-KR" sz="900">
                <a:solidFill>
                  <a:srgbClr val="0066FF"/>
                </a:solidFill>
              </a:rPr>
              <a:t>)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CCB2CDC-9B31-47C5-8D10-A547331A1082}"/>
              </a:ext>
            </a:extLst>
          </p:cNvPr>
          <p:cNvSpPr/>
          <p:nvPr/>
        </p:nvSpPr>
        <p:spPr>
          <a:xfrm>
            <a:off x="6736318" y="1938085"/>
            <a:ext cx="900745" cy="969519"/>
          </a:xfrm>
          <a:prstGeom prst="rect">
            <a:avLst/>
          </a:prstGeom>
          <a:solidFill>
            <a:schemeClr val="accent1">
              <a:alpha val="51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D8CB950-A011-4429-977F-49F45694AA38}"/>
              </a:ext>
            </a:extLst>
          </p:cNvPr>
          <p:cNvSpPr/>
          <p:nvPr/>
        </p:nvSpPr>
        <p:spPr>
          <a:xfrm>
            <a:off x="3312177" y="1938085"/>
            <a:ext cx="3418772" cy="969519"/>
          </a:xfrm>
          <a:prstGeom prst="rect">
            <a:avLst/>
          </a:prstGeom>
          <a:solidFill>
            <a:schemeClr val="accent2">
              <a:lumMod val="75000"/>
              <a:alpha val="51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BC79DE5-E49F-499F-9F0D-EF85B2843174}"/>
              </a:ext>
            </a:extLst>
          </p:cNvPr>
          <p:cNvSpPr/>
          <p:nvPr/>
        </p:nvSpPr>
        <p:spPr>
          <a:xfrm>
            <a:off x="3802199" y="2914532"/>
            <a:ext cx="2403310" cy="659564"/>
          </a:xfrm>
          <a:prstGeom prst="rect">
            <a:avLst/>
          </a:prstGeom>
          <a:solidFill>
            <a:schemeClr val="accent4">
              <a:lumMod val="75000"/>
              <a:alpha val="33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A8542023-BCF8-4130-804A-C67F48F94DFC}"/>
              </a:ext>
            </a:extLst>
          </p:cNvPr>
          <p:cNvCxnSpPr/>
          <p:nvPr/>
        </p:nvCxnSpPr>
        <p:spPr>
          <a:xfrm>
            <a:off x="2411432" y="1738746"/>
            <a:ext cx="0" cy="1928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E6BC631-6E3B-4093-8699-D922CE2203B1}"/>
              </a:ext>
            </a:extLst>
          </p:cNvPr>
          <p:cNvCxnSpPr/>
          <p:nvPr/>
        </p:nvCxnSpPr>
        <p:spPr>
          <a:xfrm>
            <a:off x="7624147" y="1738746"/>
            <a:ext cx="0" cy="1928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59FC893-B310-498B-8739-3A200EC78B1C}"/>
              </a:ext>
            </a:extLst>
          </p:cNvPr>
          <p:cNvCxnSpPr>
            <a:cxnSpLocks/>
          </p:cNvCxnSpPr>
          <p:nvPr/>
        </p:nvCxnSpPr>
        <p:spPr>
          <a:xfrm>
            <a:off x="3800901" y="3574095"/>
            <a:ext cx="0" cy="242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6A7FA999-E3D8-4CF7-A3AA-F6D993FBDA36}"/>
              </a:ext>
            </a:extLst>
          </p:cNvPr>
          <p:cNvCxnSpPr>
            <a:cxnSpLocks/>
          </p:cNvCxnSpPr>
          <p:nvPr/>
        </p:nvCxnSpPr>
        <p:spPr>
          <a:xfrm>
            <a:off x="6206587" y="3574095"/>
            <a:ext cx="0" cy="242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CF1C4F4A-018A-4FCF-BE68-4566CC0E9C79}"/>
              </a:ext>
            </a:extLst>
          </p:cNvPr>
          <p:cNvCxnSpPr>
            <a:cxnSpLocks/>
          </p:cNvCxnSpPr>
          <p:nvPr/>
        </p:nvCxnSpPr>
        <p:spPr>
          <a:xfrm flipH="1">
            <a:off x="2411433" y="1835350"/>
            <a:ext cx="5212714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9A67A82A-7481-463F-B07B-4B41247ACBB7}"/>
              </a:ext>
            </a:extLst>
          </p:cNvPr>
          <p:cNvCxnSpPr>
            <a:cxnSpLocks/>
          </p:cNvCxnSpPr>
          <p:nvPr/>
        </p:nvCxnSpPr>
        <p:spPr>
          <a:xfrm flipH="1">
            <a:off x="3804150" y="3691859"/>
            <a:ext cx="2404609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BAA10F4-9667-4FD6-9335-E6CD1850238A}"/>
              </a:ext>
            </a:extLst>
          </p:cNvPr>
          <p:cNvSpPr txBox="1"/>
          <p:nvPr/>
        </p:nvSpPr>
        <p:spPr>
          <a:xfrm>
            <a:off x="2410503" y="1623330"/>
            <a:ext cx="52127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본사 </a:t>
            </a:r>
            <a:r>
              <a:rPr lang="en-US" altLang="ko-KR" sz="900"/>
              <a:t>API </a:t>
            </a:r>
            <a:r>
              <a:rPr lang="ko-KR" altLang="en-US" sz="900"/>
              <a:t>서버 쓰레드</a:t>
            </a:r>
            <a:r>
              <a:rPr lang="en-US" altLang="ko-KR" sz="900"/>
              <a:t>(</a:t>
            </a:r>
            <a:r>
              <a:rPr lang="ko-KR" altLang="en-US" sz="900"/>
              <a:t>요청 쓰레드</a:t>
            </a:r>
            <a:r>
              <a:rPr lang="en-US" altLang="ko-KR" sz="900"/>
              <a:t>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F2829EA-23B1-42C1-A6A6-A10336E75CF9}"/>
              </a:ext>
            </a:extLst>
          </p:cNvPr>
          <p:cNvSpPr txBox="1"/>
          <p:nvPr/>
        </p:nvSpPr>
        <p:spPr>
          <a:xfrm>
            <a:off x="3800901" y="3701512"/>
            <a:ext cx="23992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지점 </a:t>
            </a:r>
            <a:r>
              <a:rPr lang="en-US" altLang="ko-KR" sz="900"/>
              <a:t>API </a:t>
            </a:r>
            <a:r>
              <a:rPr lang="ko-KR" altLang="en-US" sz="900"/>
              <a:t>서버 쓰레드</a:t>
            </a:r>
            <a:r>
              <a:rPr lang="en-US" altLang="ko-KR" sz="900"/>
              <a:t>(</a:t>
            </a:r>
            <a:r>
              <a:rPr lang="ko-KR" altLang="en-US" sz="900"/>
              <a:t>작업 쓰레드</a:t>
            </a:r>
            <a:r>
              <a:rPr lang="en-US" altLang="ko-KR" sz="900"/>
              <a:t>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E88D671-2856-4F34-B065-A79AAA1918B7}"/>
              </a:ext>
            </a:extLst>
          </p:cNvPr>
          <p:cNvSpPr txBox="1"/>
          <p:nvPr/>
        </p:nvSpPr>
        <p:spPr>
          <a:xfrm>
            <a:off x="2403774" y="2243902"/>
            <a:ext cx="91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solidFill>
                  <a:srgbClr val="FF0000"/>
                </a:solidFill>
              </a:rPr>
              <a:t>요청 처리 작업</a:t>
            </a:r>
            <a:endParaRPr lang="en-US" altLang="ko-KR" sz="900">
              <a:solidFill>
                <a:srgbClr val="FF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B583C96-2995-436D-99F3-B197850B52FF}"/>
              </a:ext>
            </a:extLst>
          </p:cNvPr>
          <p:cNvSpPr txBox="1"/>
          <p:nvPr/>
        </p:nvSpPr>
        <p:spPr>
          <a:xfrm>
            <a:off x="3305566" y="2243902"/>
            <a:ext cx="342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solidFill>
                  <a:srgbClr val="FF0000"/>
                </a:solidFill>
              </a:rPr>
              <a:t>쓰레드 차단</a:t>
            </a:r>
            <a:endParaRPr lang="en-US" altLang="ko-KR" sz="900">
              <a:solidFill>
                <a:srgbClr val="FF0000"/>
              </a:solidFill>
            </a:endParaRPr>
          </a:p>
          <a:p>
            <a:pPr algn="ctr"/>
            <a:r>
              <a:rPr lang="ko-KR" altLang="en-US" sz="900">
                <a:solidFill>
                  <a:srgbClr val="FF0000"/>
                </a:solidFill>
              </a:rPr>
              <a:t>대기중</a:t>
            </a:r>
            <a:endParaRPr lang="en-US" altLang="ko-KR" sz="900">
              <a:solidFill>
                <a:srgbClr val="FF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EF573ED-D1E4-4FD3-8842-5FEA03F53429}"/>
              </a:ext>
            </a:extLst>
          </p:cNvPr>
          <p:cNvSpPr txBox="1"/>
          <p:nvPr/>
        </p:nvSpPr>
        <p:spPr>
          <a:xfrm>
            <a:off x="6742684" y="2243902"/>
            <a:ext cx="8890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solidFill>
                  <a:srgbClr val="FF0000"/>
                </a:solidFill>
              </a:rPr>
              <a:t>응답 처리중</a:t>
            </a:r>
            <a:endParaRPr lang="en-US" altLang="ko-KR" sz="900">
              <a:solidFill>
                <a:srgbClr val="FF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ECB9FC-2A69-4AC9-9F14-EB58121BA1E8}"/>
              </a:ext>
            </a:extLst>
          </p:cNvPr>
          <p:cNvSpPr txBox="1"/>
          <p:nvPr/>
        </p:nvSpPr>
        <p:spPr>
          <a:xfrm>
            <a:off x="3804150" y="3117916"/>
            <a:ext cx="24118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solidFill>
                  <a:srgbClr val="FF0000"/>
                </a:solidFill>
              </a:rPr>
              <a:t>처리중</a:t>
            </a:r>
            <a:endParaRPr lang="en-US" altLang="ko-KR" sz="9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59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8" grpId="0"/>
      <p:bldP spid="82" grpId="0"/>
      <p:bldP spid="83" grpId="0"/>
      <p:bldP spid="84" grpId="0"/>
      <p:bldP spid="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1206100" y="1417089"/>
            <a:ext cx="7465202" cy="46595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작업 쓰레드가 종료될때까지 요청을 한 쓰레드는 차단된다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Blocking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I/O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요약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3DF7088A-EB93-4A38-B341-4B4A281F4DE0}"/>
              </a:ext>
            </a:extLst>
          </p:cNvPr>
          <p:cNvSpPr txBox="1">
            <a:spLocks/>
          </p:cNvSpPr>
          <p:nvPr/>
        </p:nvSpPr>
        <p:spPr>
          <a:xfrm>
            <a:off x="1206100" y="1883044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이러한 단점을 보완하기 위해 멀티 쓰레딩 기법을 통해 추가 쓰레드를 할당 할 수 있다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C137E100-B1D3-4149-B4F0-AE1200EB3B77}"/>
              </a:ext>
            </a:extLst>
          </p:cNvPr>
          <p:cNvSpPr txBox="1">
            <a:spLocks/>
          </p:cNvSpPr>
          <p:nvPr/>
        </p:nvSpPr>
        <p:spPr>
          <a:xfrm>
            <a:off x="1206100" y="2328547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 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대비 많은 수의 쓰레드를 사용하는 애플리케이션은 비효율적이다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8" name="Google Shape;168;p16">
            <a:extLst>
              <a:ext uri="{FF2B5EF4-FFF2-40B4-BE49-F238E27FC236}">
                <a16:creationId xmlns:a16="http://schemas.microsoft.com/office/drawing/2014/main" id="{04D50920-3842-4556-8695-C8F75264B19B}"/>
              </a:ext>
            </a:extLst>
          </p:cNvPr>
          <p:cNvSpPr txBox="1">
            <a:spLocks/>
          </p:cNvSpPr>
          <p:nvPr/>
        </p:nvSpPr>
        <p:spPr>
          <a:xfrm>
            <a:off x="1583140" y="2770761"/>
            <a:ext cx="708816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컨텍스트 스위칭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(Context Switching)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인한 쓰레드 전환 비용 발생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F965DD32-41B4-48A4-811B-ED421F7192C0}"/>
              </a:ext>
            </a:extLst>
          </p:cNvPr>
          <p:cNvSpPr txBox="1">
            <a:spLocks/>
          </p:cNvSpPr>
          <p:nvPr/>
        </p:nvSpPr>
        <p:spPr>
          <a:xfrm>
            <a:off x="1583140" y="3216264"/>
            <a:ext cx="708816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메모리 사용에 있어서 오버 헤드 발생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424556C1-D562-4CAD-8E89-2754DACF7CC0}"/>
              </a:ext>
            </a:extLst>
          </p:cNvPr>
          <p:cNvSpPr txBox="1">
            <a:spLocks/>
          </p:cNvSpPr>
          <p:nvPr/>
        </p:nvSpPr>
        <p:spPr>
          <a:xfrm>
            <a:off x="1583140" y="3658478"/>
            <a:ext cx="708816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쓰레드 풀에서의 응답 지연 문제 발생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40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13" grpId="0" uiExpand="1" build="p"/>
      <p:bldP spid="7" grpId="0" uiExpand="1" build="p"/>
      <p:bldP spid="8" grpId="0" uiExpand="1" build="p"/>
      <p:bldP spid="9" grpId="0" uiExpand="1" build="p"/>
      <p:bldP spid="1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494A639-BAAC-4633-A61B-8AE9E1ED141B}"/>
              </a:ext>
            </a:extLst>
          </p:cNvPr>
          <p:cNvSpPr/>
          <p:nvPr/>
        </p:nvSpPr>
        <p:spPr>
          <a:xfrm>
            <a:off x="6759388" y="1687427"/>
            <a:ext cx="2074732" cy="2531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Blocking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I/O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문제점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69EA00DD-A155-4B6E-A8ED-1F81A928612F}"/>
              </a:ext>
            </a:extLst>
          </p:cNvPr>
          <p:cNvSpPr txBox="1">
            <a:spLocks/>
          </p:cNvSpPr>
          <p:nvPr/>
        </p:nvSpPr>
        <p:spPr>
          <a:xfrm>
            <a:off x="1271841" y="1231153"/>
            <a:ext cx="7465202" cy="38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컨텍스트 스위칭</a:t>
            </a: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(Context Switching) </a:t>
            </a: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비용 발생</a:t>
            </a:r>
            <a:endParaRPr lang="en-US" altLang="ko-KR" sz="16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A4AC7A-0DFB-40F1-9BD4-AA43EF74E686}"/>
              </a:ext>
            </a:extLst>
          </p:cNvPr>
          <p:cNvSpPr/>
          <p:nvPr/>
        </p:nvSpPr>
        <p:spPr>
          <a:xfrm>
            <a:off x="412496" y="1687427"/>
            <a:ext cx="5874004" cy="40227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운영 체제</a:t>
            </a:r>
          </a:p>
        </p:txBody>
      </p:sp>
      <p:sp>
        <p:nvSpPr>
          <p:cNvPr id="21" name="Google Shape;168;p16">
            <a:extLst>
              <a:ext uri="{FF2B5EF4-FFF2-40B4-BE49-F238E27FC236}">
                <a16:creationId xmlns:a16="http://schemas.microsoft.com/office/drawing/2014/main" id="{0B36008E-DDCC-4619-80E0-FCF7314DD595}"/>
              </a:ext>
            </a:extLst>
          </p:cNvPr>
          <p:cNvSpPr txBox="1">
            <a:spLocks/>
          </p:cNvSpPr>
          <p:nvPr/>
        </p:nvSpPr>
        <p:spPr>
          <a:xfrm>
            <a:off x="1271841" y="1231153"/>
            <a:ext cx="7465202" cy="38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컨텍스트 스위칭</a:t>
            </a:r>
            <a:r>
              <a:rPr lang="en-US" altLang="ko-KR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(Context Switching) </a:t>
            </a: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비용 발생</a:t>
            </a:r>
            <a:endParaRPr lang="en-US" altLang="ko-KR" sz="16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C133570-44B1-4CA4-9C04-C47B3CA6E4D6}"/>
              </a:ext>
            </a:extLst>
          </p:cNvPr>
          <p:cNvSpPr/>
          <p:nvPr/>
        </p:nvSpPr>
        <p:spPr>
          <a:xfrm>
            <a:off x="4808955" y="1786965"/>
            <a:ext cx="1332754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프로세스</a:t>
            </a:r>
            <a:r>
              <a:rPr lang="en-US" altLang="ko-KR" sz="1000"/>
              <a:t>(P2)</a:t>
            </a:r>
            <a:endParaRPr lang="ko-KR" altLang="en-US" sz="10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F665AB4-1CE8-475D-9BCD-C3497AE91FEF}"/>
              </a:ext>
            </a:extLst>
          </p:cNvPr>
          <p:cNvCxnSpPr>
            <a:cxnSpLocks/>
          </p:cNvCxnSpPr>
          <p:nvPr/>
        </p:nvCxnSpPr>
        <p:spPr>
          <a:xfrm>
            <a:off x="5475332" y="2089703"/>
            <a:ext cx="0" cy="902879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5E5766B-22B2-4E1D-9F30-E5AD2F65337B}"/>
              </a:ext>
            </a:extLst>
          </p:cNvPr>
          <p:cNvCxnSpPr>
            <a:cxnSpLocks/>
          </p:cNvCxnSpPr>
          <p:nvPr/>
        </p:nvCxnSpPr>
        <p:spPr>
          <a:xfrm>
            <a:off x="5365719" y="2991607"/>
            <a:ext cx="23308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4AC05319-9499-465F-BA1D-24BC8EDDACCA}"/>
              </a:ext>
            </a:extLst>
          </p:cNvPr>
          <p:cNvSpPr/>
          <p:nvPr/>
        </p:nvSpPr>
        <p:spPr>
          <a:xfrm>
            <a:off x="5422494" y="2992582"/>
            <a:ext cx="119529" cy="513977"/>
          </a:xfrm>
          <a:prstGeom prst="downArrow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2339F2E-FE81-430C-A0F5-95C9EEB0C81B}"/>
              </a:ext>
            </a:extLst>
          </p:cNvPr>
          <p:cNvCxnSpPr>
            <a:cxnSpLocks/>
          </p:cNvCxnSpPr>
          <p:nvPr/>
        </p:nvCxnSpPr>
        <p:spPr>
          <a:xfrm>
            <a:off x="5365719" y="3506559"/>
            <a:ext cx="23308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BFC2C56-BE02-448B-AFE8-1589B9D7AEF3}"/>
              </a:ext>
            </a:extLst>
          </p:cNvPr>
          <p:cNvCxnSpPr>
            <a:cxnSpLocks/>
          </p:cNvCxnSpPr>
          <p:nvPr/>
        </p:nvCxnSpPr>
        <p:spPr>
          <a:xfrm>
            <a:off x="5475332" y="3506559"/>
            <a:ext cx="0" cy="1359291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오른쪽 중괄호 32">
            <a:extLst>
              <a:ext uri="{FF2B5EF4-FFF2-40B4-BE49-F238E27FC236}">
                <a16:creationId xmlns:a16="http://schemas.microsoft.com/office/drawing/2014/main" id="{C6CB8D04-6EFE-469C-9841-30899C46879F}"/>
              </a:ext>
            </a:extLst>
          </p:cNvPr>
          <p:cNvSpPr/>
          <p:nvPr/>
        </p:nvSpPr>
        <p:spPr>
          <a:xfrm>
            <a:off x="5666493" y="2089703"/>
            <a:ext cx="238693" cy="901901"/>
          </a:xfrm>
          <a:prstGeom prst="rightBrace">
            <a:avLst>
              <a:gd name="adj1" fmla="val 8333"/>
              <a:gd name="adj2" fmla="val 44697"/>
            </a:avLst>
          </a:prstGeom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오른쪽 중괄호 33">
            <a:extLst>
              <a:ext uri="{FF2B5EF4-FFF2-40B4-BE49-F238E27FC236}">
                <a16:creationId xmlns:a16="http://schemas.microsoft.com/office/drawing/2014/main" id="{B3B01E8D-C4A8-45F6-9FAC-201CB4B6E68E}"/>
              </a:ext>
            </a:extLst>
          </p:cNvPr>
          <p:cNvSpPr/>
          <p:nvPr/>
        </p:nvSpPr>
        <p:spPr>
          <a:xfrm>
            <a:off x="5666493" y="3506559"/>
            <a:ext cx="238693" cy="1359283"/>
          </a:xfrm>
          <a:prstGeom prst="rightBrace">
            <a:avLst>
              <a:gd name="adj1" fmla="val 8333"/>
              <a:gd name="adj2" fmla="val 44697"/>
            </a:avLst>
          </a:prstGeom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1DBEB-31D2-4462-B450-9271A1C1700D}"/>
              </a:ext>
            </a:extLst>
          </p:cNvPr>
          <p:cNvSpPr txBox="1"/>
          <p:nvPr/>
        </p:nvSpPr>
        <p:spPr>
          <a:xfrm>
            <a:off x="5829206" y="2306220"/>
            <a:ext cx="85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유휴 시간</a:t>
            </a:r>
            <a:endParaRPr lang="en-US" altLang="ko-KR" sz="900"/>
          </a:p>
          <a:p>
            <a:pPr algn="ctr"/>
            <a:r>
              <a:rPr lang="en-US" altLang="ko-KR" sz="900"/>
              <a:t>(Idle Time)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5783A4-D43E-4A08-9B43-549FFAB08C0C}"/>
              </a:ext>
            </a:extLst>
          </p:cNvPr>
          <p:cNvSpPr txBox="1"/>
          <p:nvPr/>
        </p:nvSpPr>
        <p:spPr>
          <a:xfrm>
            <a:off x="5829206" y="3958664"/>
            <a:ext cx="85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유휴 시간</a:t>
            </a:r>
            <a:endParaRPr lang="en-US" altLang="ko-KR" sz="900"/>
          </a:p>
          <a:p>
            <a:pPr algn="ctr"/>
            <a:r>
              <a:rPr lang="en-US" altLang="ko-KR" sz="900"/>
              <a:t>(Idle Time)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AFB9ED5-3F32-4E80-835E-3F61AEFE05D2}"/>
              </a:ext>
            </a:extLst>
          </p:cNvPr>
          <p:cNvCxnSpPr>
            <a:cxnSpLocks/>
          </p:cNvCxnSpPr>
          <p:nvPr/>
        </p:nvCxnSpPr>
        <p:spPr>
          <a:xfrm>
            <a:off x="4265136" y="2991604"/>
            <a:ext cx="1100583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6E346D2-D4AD-448F-AE5C-3E357DE9A33D}"/>
              </a:ext>
            </a:extLst>
          </p:cNvPr>
          <p:cNvSpPr txBox="1"/>
          <p:nvPr/>
        </p:nvSpPr>
        <p:spPr>
          <a:xfrm>
            <a:off x="2440170" y="2887886"/>
            <a:ext cx="19486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PCB</a:t>
            </a:r>
            <a:r>
              <a:rPr lang="ko-KR" altLang="en-US" sz="900"/>
              <a:t>에서 프로세스 상태 </a:t>
            </a:r>
            <a:r>
              <a:rPr lang="en-US" altLang="ko-KR" sz="900"/>
              <a:t>reload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54074B2-50C4-4B8C-B73D-183FD2522D38}"/>
              </a:ext>
            </a:extLst>
          </p:cNvPr>
          <p:cNvCxnSpPr>
            <a:cxnSpLocks/>
          </p:cNvCxnSpPr>
          <p:nvPr/>
        </p:nvCxnSpPr>
        <p:spPr>
          <a:xfrm flipH="1">
            <a:off x="4265136" y="3506559"/>
            <a:ext cx="1100583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450E1CB-0A42-4380-ACF1-B21AE7093539}"/>
              </a:ext>
            </a:extLst>
          </p:cNvPr>
          <p:cNvSpPr txBox="1"/>
          <p:nvPr/>
        </p:nvSpPr>
        <p:spPr>
          <a:xfrm>
            <a:off x="2508471" y="3392088"/>
            <a:ext cx="20860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PCB</a:t>
            </a:r>
            <a:r>
              <a:rPr lang="ko-KR" altLang="en-US" sz="900"/>
              <a:t>에 프로세스 상태 저장</a:t>
            </a:r>
            <a:endParaRPr lang="en-US" altLang="ko-KR" sz="9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2E6D74-FEF1-446C-BE83-4C08974DB94F}"/>
              </a:ext>
            </a:extLst>
          </p:cNvPr>
          <p:cNvSpPr txBox="1"/>
          <p:nvPr/>
        </p:nvSpPr>
        <p:spPr>
          <a:xfrm>
            <a:off x="5008889" y="3153075"/>
            <a:ext cx="4854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실행</a:t>
            </a:r>
            <a:endParaRPr lang="en-US" altLang="ko-KR" sz="9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E4E34E4-0996-479A-AEC3-CA86CE2AE9D1}"/>
              </a:ext>
            </a:extLst>
          </p:cNvPr>
          <p:cNvSpPr/>
          <p:nvPr/>
        </p:nvSpPr>
        <p:spPr>
          <a:xfrm>
            <a:off x="510992" y="1786965"/>
            <a:ext cx="1308844" cy="2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프로세스</a:t>
            </a:r>
            <a:r>
              <a:rPr lang="en-US" altLang="ko-KR" sz="1000"/>
              <a:t>(P1)</a:t>
            </a:r>
            <a:endParaRPr lang="ko-KR" altLang="en-US" sz="1000"/>
          </a:p>
        </p:txBody>
      </p:sp>
      <p:sp>
        <p:nvSpPr>
          <p:cNvPr id="44" name="화살표: 아래쪽 43">
            <a:extLst>
              <a:ext uri="{FF2B5EF4-FFF2-40B4-BE49-F238E27FC236}">
                <a16:creationId xmlns:a16="http://schemas.microsoft.com/office/drawing/2014/main" id="{ED30736C-87EE-4CF9-9B15-08309D007809}"/>
              </a:ext>
            </a:extLst>
          </p:cNvPr>
          <p:cNvSpPr/>
          <p:nvPr/>
        </p:nvSpPr>
        <p:spPr>
          <a:xfrm>
            <a:off x="1060823" y="2089703"/>
            <a:ext cx="119529" cy="513977"/>
          </a:xfrm>
          <a:prstGeom prst="downArrow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10406AE-03B8-4C21-994B-1138ED8CE731}"/>
              </a:ext>
            </a:extLst>
          </p:cNvPr>
          <p:cNvCxnSpPr>
            <a:cxnSpLocks/>
          </p:cNvCxnSpPr>
          <p:nvPr/>
        </p:nvCxnSpPr>
        <p:spPr>
          <a:xfrm>
            <a:off x="1002689" y="2603680"/>
            <a:ext cx="23308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F712AE1-9857-4699-937C-B1A642511196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1120587" y="2603680"/>
            <a:ext cx="1" cy="1739152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46A6671-6775-494E-BDF2-63734A038DEE}"/>
              </a:ext>
            </a:extLst>
          </p:cNvPr>
          <p:cNvCxnSpPr>
            <a:cxnSpLocks/>
          </p:cNvCxnSpPr>
          <p:nvPr/>
        </p:nvCxnSpPr>
        <p:spPr>
          <a:xfrm>
            <a:off x="1002689" y="4328003"/>
            <a:ext cx="23308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8" name="화살표: 아래쪽 47">
            <a:extLst>
              <a:ext uri="{FF2B5EF4-FFF2-40B4-BE49-F238E27FC236}">
                <a16:creationId xmlns:a16="http://schemas.microsoft.com/office/drawing/2014/main" id="{7D39D3B6-62E0-4458-9FEB-DAFB7607FE1E}"/>
              </a:ext>
            </a:extLst>
          </p:cNvPr>
          <p:cNvSpPr/>
          <p:nvPr/>
        </p:nvSpPr>
        <p:spPr>
          <a:xfrm>
            <a:off x="1060823" y="4351873"/>
            <a:ext cx="119529" cy="513977"/>
          </a:xfrm>
          <a:prstGeom prst="downArrow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B737C0-C572-41B3-8A1D-B0A38FDE7365}"/>
              </a:ext>
            </a:extLst>
          </p:cNvPr>
          <p:cNvSpPr txBox="1"/>
          <p:nvPr/>
        </p:nvSpPr>
        <p:spPr>
          <a:xfrm>
            <a:off x="1060823" y="2226953"/>
            <a:ext cx="4854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실행</a:t>
            </a:r>
            <a:endParaRPr lang="en-US" altLang="ko-KR" sz="900"/>
          </a:p>
        </p:txBody>
      </p:sp>
      <p:sp>
        <p:nvSpPr>
          <p:cNvPr id="50" name="오른쪽 중괄호 49">
            <a:extLst>
              <a:ext uri="{FF2B5EF4-FFF2-40B4-BE49-F238E27FC236}">
                <a16:creationId xmlns:a16="http://schemas.microsoft.com/office/drawing/2014/main" id="{2965F03D-7A9B-478F-BBF5-1031005086CD}"/>
              </a:ext>
            </a:extLst>
          </p:cNvPr>
          <p:cNvSpPr/>
          <p:nvPr/>
        </p:nvSpPr>
        <p:spPr>
          <a:xfrm>
            <a:off x="1295533" y="2603680"/>
            <a:ext cx="238693" cy="1724316"/>
          </a:xfrm>
          <a:prstGeom prst="rightBrace">
            <a:avLst>
              <a:gd name="adj1" fmla="val 8333"/>
              <a:gd name="adj2" fmla="val 44697"/>
            </a:avLst>
          </a:prstGeom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74A52F-7383-4AF6-A523-54A6804BB547}"/>
              </a:ext>
            </a:extLst>
          </p:cNvPr>
          <p:cNvSpPr txBox="1"/>
          <p:nvPr/>
        </p:nvSpPr>
        <p:spPr>
          <a:xfrm>
            <a:off x="1414878" y="3249616"/>
            <a:ext cx="85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유휴 시간</a:t>
            </a:r>
            <a:endParaRPr lang="en-US" altLang="ko-KR" sz="900"/>
          </a:p>
          <a:p>
            <a:pPr algn="ctr"/>
            <a:r>
              <a:rPr lang="en-US" altLang="ko-KR" sz="900"/>
              <a:t>(Idle Time)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7A5FAD1-A30A-4106-8D0F-C6ACE3973A38}"/>
              </a:ext>
            </a:extLst>
          </p:cNvPr>
          <p:cNvGrpSpPr/>
          <p:nvPr/>
        </p:nvGrpSpPr>
        <p:grpSpPr>
          <a:xfrm>
            <a:off x="1235769" y="2306220"/>
            <a:ext cx="1539181" cy="297460"/>
            <a:chOff x="1235769" y="2306220"/>
            <a:chExt cx="1539181" cy="297460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C2AE9A06-78DD-497C-83B7-C2AE22C129F2}"/>
                </a:ext>
              </a:extLst>
            </p:cNvPr>
            <p:cNvCxnSpPr/>
            <p:nvPr/>
          </p:nvCxnSpPr>
          <p:spPr>
            <a:xfrm flipV="1">
              <a:off x="1235769" y="2306220"/>
              <a:ext cx="438599" cy="297460"/>
            </a:xfrm>
            <a:prstGeom prst="line">
              <a:avLst/>
            </a:prstGeom>
            <a:ln w="952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D286A2C5-B392-448B-93FD-5FBE07E45F63}"/>
                </a:ext>
              </a:extLst>
            </p:cNvPr>
            <p:cNvCxnSpPr>
              <a:cxnSpLocks/>
            </p:cNvCxnSpPr>
            <p:nvPr/>
          </p:nvCxnSpPr>
          <p:spPr>
            <a:xfrm>
              <a:off x="1674367" y="2306220"/>
              <a:ext cx="1100583" cy="0"/>
            </a:xfrm>
            <a:prstGeom prst="straightConnector1">
              <a:avLst/>
            </a:prstGeom>
            <a:ln w="952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C26BBBD-A138-4CA1-AF65-BE31F8A59C82}"/>
              </a:ext>
            </a:extLst>
          </p:cNvPr>
          <p:cNvSpPr txBox="1"/>
          <p:nvPr/>
        </p:nvSpPr>
        <p:spPr>
          <a:xfrm>
            <a:off x="2759635" y="2190804"/>
            <a:ext cx="174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PCB(Process Control Block)</a:t>
            </a:r>
            <a:r>
              <a:rPr lang="ko-KR" altLang="en-US" sz="900"/>
              <a:t>에 프로세스 상태 저장</a:t>
            </a:r>
            <a:endParaRPr lang="en-US" altLang="ko-KR" sz="9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20F68F7-281C-4DC2-B9C2-54D0A7C37F8B}"/>
              </a:ext>
            </a:extLst>
          </p:cNvPr>
          <p:cNvGrpSpPr/>
          <p:nvPr/>
        </p:nvGrpSpPr>
        <p:grpSpPr>
          <a:xfrm>
            <a:off x="1248046" y="4342832"/>
            <a:ext cx="1526904" cy="274788"/>
            <a:chOff x="1248046" y="4342832"/>
            <a:chExt cx="1526904" cy="274788"/>
          </a:xfrm>
        </p:grpSpPr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6C470299-70F0-4057-8E24-EEE136078A07}"/>
                </a:ext>
              </a:extLst>
            </p:cNvPr>
            <p:cNvCxnSpPr>
              <a:cxnSpLocks/>
            </p:cNvCxnSpPr>
            <p:nvPr/>
          </p:nvCxnSpPr>
          <p:spPr>
            <a:xfrm>
              <a:off x="1248046" y="4342832"/>
              <a:ext cx="426322" cy="274788"/>
            </a:xfrm>
            <a:prstGeom prst="line">
              <a:avLst/>
            </a:prstGeom>
            <a:ln w="952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2D8746EE-39EA-42B7-BC52-8830AB662BC8}"/>
                </a:ext>
              </a:extLst>
            </p:cNvPr>
            <p:cNvCxnSpPr>
              <a:cxnSpLocks/>
            </p:cNvCxnSpPr>
            <p:nvPr/>
          </p:nvCxnSpPr>
          <p:spPr>
            <a:xfrm>
              <a:off x="1674367" y="4617620"/>
              <a:ext cx="1100583" cy="0"/>
            </a:xfrm>
            <a:prstGeom prst="straightConnector1">
              <a:avLst/>
            </a:prstGeom>
            <a:ln w="9525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9EB8B4F1-7A4F-4E2A-876C-EE9BB24590D7}"/>
              </a:ext>
            </a:extLst>
          </p:cNvPr>
          <p:cNvSpPr txBox="1"/>
          <p:nvPr/>
        </p:nvSpPr>
        <p:spPr>
          <a:xfrm>
            <a:off x="2759635" y="4480226"/>
            <a:ext cx="20364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PCB</a:t>
            </a:r>
            <a:r>
              <a:rPr lang="ko-KR" altLang="en-US" sz="900"/>
              <a:t>에서 프로세스 상태 </a:t>
            </a:r>
            <a:r>
              <a:rPr lang="en-US" altLang="ko-KR" sz="900"/>
              <a:t>reloading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A62215-D4A6-4887-B754-8DCEF5464F4A}"/>
              </a:ext>
            </a:extLst>
          </p:cNvPr>
          <p:cNvSpPr txBox="1"/>
          <p:nvPr/>
        </p:nvSpPr>
        <p:spPr>
          <a:xfrm>
            <a:off x="6804102" y="1867638"/>
            <a:ext cx="1985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/>
              <a:t>PCB</a:t>
            </a:r>
            <a:r>
              <a:rPr lang="ko-KR" altLang="en-US" sz="900"/>
              <a:t>에 저장하고 </a:t>
            </a:r>
            <a:r>
              <a:rPr lang="en-US" altLang="ko-KR" sz="900"/>
              <a:t>PCB</a:t>
            </a:r>
            <a:r>
              <a:rPr lang="ko-KR" altLang="en-US" sz="900"/>
              <a:t>에서 로드하는데 추가 시간이 들어가기때문에 실행 시점과 유휴 시점이 딱 들어맞지 않는다</a:t>
            </a:r>
            <a:endParaRPr lang="en-US" altLang="ko-KR" sz="9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6E8152-3788-4CED-AEB4-BA082B533B57}"/>
              </a:ext>
            </a:extLst>
          </p:cNvPr>
          <p:cNvSpPr txBox="1"/>
          <p:nvPr/>
        </p:nvSpPr>
        <p:spPr>
          <a:xfrm>
            <a:off x="6804102" y="2584007"/>
            <a:ext cx="19853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/>
              <a:t>PCB</a:t>
            </a:r>
            <a:r>
              <a:rPr lang="ko-KR" altLang="en-US" sz="900"/>
              <a:t>에 저장하고 </a:t>
            </a:r>
            <a:r>
              <a:rPr lang="en-US" altLang="ko-KR" sz="900"/>
              <a:t>PCB</a:t>
            </a:r>
            <a:r>
              <a:rPr lang="ko-KR" altLang="en-US" sz="900"/>
              <a:t>에서 로드하는 시간동안에 </a:t>
            </a:r>
            <a:r>
              <a:rPr lang="en-US" altLang="ko-KR" sz="900"/>
              <a:t>CPU</a:t>
            </a:r>
            <a:r>
              <a:rPr lang="ko-KR" altLang="en-US" sz="900"/>
              <a:t>는 대기한다</a:t>
            </a:r>
            <a:r>
              <a:rPr lang="en-US" altLang="ko-KR" sz="900"/>
              <a:t>. </a:t>
            </a:r>
            <a:r>
              <a:rPr lang="ko-KR" altLang="en-US" sz="900"/>
              <a:t>일을 하지 못함</a:t>
            </a:r>
            <a:r>
              <a:rPr lang="en-US" altLang="ko-KR" sz="900"/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E7C401-4A60-47C1-B5FD-3F6ABCE0BA76}"/>
              </a:ext>
            </a:extLst>
          </p:cNvPr>
          <p:cNvSpPr txBox="1"/>
          <p:nvPr/>
        </p:nvSpPr>
        <p:spPr>
          <a:xfrm>
            <a:off x="6804102" y="3180366"/>
            <a:ext cx="19853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900">
                <a:solidFill>
                  <a:srgbClr val="FF0000"/>
                </a:solidFill>
              </a:rPr>
              <a:t>컨텍스트 스위칭이 잦을수록 </a:t>
            </a:r>
            <a:r>
              <a:rPr lang="en-US" altLang="ko-KR" sz="900">
                <a:solidFill>
                  <a:srgbClr val="FF0000"/>
                </a:solidFill>
              </a:rPr>
              <a:t>CPU</a:t>
            </a:r>
            <a:r>
              <a:rPr lang="ko-KR" altLang="en-US" sz="900">
                <a:solidFill>
                  <a:srgbClr val="FF0000"/>
                </a:solidFill>
              </a:rPr>
              <a:t>의 전체 대기 시간이 길어지므로 성능이 저하된다</a:t>
            </a:r>
            <a:r>
              <a:rPr lang="en-US" altLang="ko-KR" sz="90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131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3" grpId="0" animBg="1"/>
      <p:bldP spid="34" grpId="0" animBg="1"/>
      <p:bldP spid="35" grpId="0"/>
      <p:bldP spid="36" grpId="0"/>
      <p:bldP spid="38" grpId="0"/>
      <p:bldP spid="40" grpId="0"/>
      <p:bldP spid="41" grpId="0"/>
      <p:bldP spid="49" grpId="0"/>
      <p:bldP spid="50" grpId="0" animBg="1"/>
      <p:bldP spid="51" grpId="0"/>
      <p:bldP spid="54" grpId="0"/>
      <p:bldP spid="57" grpId="0"/>
      <p:bldP spid="61" grpId="0"/>
      <p:bldP spid="62" grpId="0"/>
      <p:bldP spid="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Blocking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I/O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문제점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69EA00DD-A155-4B6E-A8ED-1F81A928612F}"/>
              </a:ext>
            </a:extLst>
          </p:cNvPr>
          <p:cNvSpPr txBox="1">
            <a:spLocks/>
          </p:cNvSpPr>
          <p:nvPr/>
        </p:nvSpPr>
        <p:spPr>
          <a:xfrm>
            <a:off x="1271841" y="1357721"/>
            <a:ext cx="7465202" cy="38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메모리 사용에 있어서 오버헤드 발생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E740A26B-E837-4D49-835E-3199902B7549}"/>
              </a:ext>
            </a:extLst>
          </p:cNvPr>
          <p:cNvSpPr txBox="1">
            <a:spLocks/>
          </p:cNvSpPr>
          <p:nvPr/>
        </p:nvSpPr>
        <p:spPr>
          <a:xfrm>
            <a:off x="1583140" y="1797918"/>
            <a:ext cx="7088162" cy="38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default stack size for the 64-bit JVM = </a:t>
            </a:r>
            <a:r>
              <a:rPr lang="en-US" altLang="ko-KR" sz="1600" b="1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1,024 KB</a:t>
            </a: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CD5E4316-4060-40F5-B5F7-448DB404EED8}"/>
              </a:ext>
            </a:extLst>
          </p:cNvPr>
          <p:cNvSpPr txBox="1">
            <a:spLocks/>
          </p:cNvSpPr>
          <p:nvPr/>
        </p:nvSpPr>
        <p:spPr>
          <a:xfrm>
            <a:off x="1583140" y="2238115"/>
            <a:ext cx="7088162" cy="38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64,000 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명이 동시 접속 시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1600" b="1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64GB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메모리가 추가로 필요함 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C3D0247-6CB1-4B8B-A628-305707D86C5B}"/>
              </a:ext>
            </a:extLst>
          </p:cNvPr>
          <p:cNvSpPr txBox="1">
            <a:spLocks/>
          </p:cNvSpPr>
          <p:nvPr/>
        </p:nvSpPr>
        <p:spPr>
          <a:xfrm>
            <a:off x="1271841" y="3089657"/>
            <a:ext cx="7465202" cy="38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쓰레드 풀에서의 응답 지연 문제 발생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1979CA3-3B59-4C69-A679-B91871D6A36D}"/>
              </a:ext>
            </a:extLst>
          </p:cNvPr>
          <p:cNvSpPr txBox="1">
            <a:spLocks/>
          </p:cNvSpPr>
          <p:nvPr/>
        </p:nvSpPr>
        <p:spPr>
          <a:xfrm>
            <a:off x="1583140" y="3529854"/>
            <a:ext cx="7088162" cy="38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쓰레드 풀에 유휴 쓰레드가 없을 경우의 응답 지연 시간이 길어짐</a:t>
            </a:r>
            <a:endParaRPr lang="en-US" altLang="ko-KR" sz="16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33BAF200-7517-45C1-BE69-05CDDAB4D33D}"/>
              </a:ext>
            </a:extLst>
          </p:cNvPr>
          <p:cNvSpPr txBox="1">
            <a:spLocks/>
          </p:cNvSpPr>
          <p:nvPr/>
        </p:nvSpPr>
        <p:spPr>
          <a:xfrm>
            <a:off x="1583140" y="3970051"/>
            <a:ext cx="7088162" cy="38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반납된 쓰레드가 사용 가능하도록 전환되는 과정에서 응답 지연 발생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15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4" grpId="0" uiExpand="1" build="p"/>
      <p:bldP spid="5" grpId="0" uiExpand="1" build="p"/>
      <p:bldP spid="9" grpId="0" uiExpand="1" build="p"/>
      <p:bldP spid="11" grpId="0" uiExpand="1" build="p"/>
      <p:bldP spid="1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5816F23-4D6A-4AC7-8F3B-218B441C16BE}"/>
              </a:ext>
            </a:extLst>
          </p:cNvPr>
          <p:cNvSpPr/>
          <p:nvPr/>
        </p:nvSpPr>
        <p:spPr>
          <a:xfrm>
            <a:off x="4751934" y="2914532"/>
            <a:ext cx="1166712" cy="659564"/>
          </a:xfrm>
          <a:prstGeom prst="rect">
            <a:avLst/>
          </a:prstGeom>
          <a:solidFill>
            <a:schemeClr val="accent4">
              <a:lumMod val="75000"/>
              <a:alpha val="33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Non-Blocking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I/O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그림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A42E31-8D1D-4A46-8DC3-62F43ABADCF4}"/>
              </a:ext>
            </a:extLst>
          </p:cNvPr>
          <p:cNvCxnSpPr>
            <a:cxnSpLocks/>
          </p:cNvCxnSpPr>
          <p:nvPr/>
        </p:nvCxnSpPr>
        <p:spPr>
          <a:xfrm>
            <a:off x="1080777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oogle Shape;550;p36">
            <a:extLst>
              <a:ext uri="{FF2B5EF4-FFF2-40B4-BE49-F238E27FC236}">
                <a16:creationId xmlns:a16="http://schemas.microsoft.com/office/drawing/2014/main" id="{3EDB33C7-7997-4434-836F-862308B00348}"/>
              </a:ext>
            </a:extLst>
          </p:cNvPr>
          <p:cNvGrpSpPr/>
          <p:nvPr/>
        </p:nvGrpSpPr>
        <p:grpSpPr>
          <a:xfrm>
            <a:off x="1134603" y="1982228"/>
            <a:ext cx="339038" cy="326512"/>
            <a:chOff x="2583325" y="2972875"/>
            <a:chExt cx="462850" cy="445750"/>
          </a:xfrm>
        </p:grpSpPr>
        <p:sp>
          <p:nvSpPr>
            <p:cNvPr id="10" name="Google Shape;551;p36">
              <a:extLst>
                <a:ext uri="{FF2B5EF4-FFF2-40B4-BE49-F238E27FC236}">
                  <a16:creationId xmlns:a16="http://schemas.microsoft.com/office/drawing/2014/main" id="{53A35370-9510-43EC-B25D-A1777F06A2A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52;p36">
              <a:extLst>
                <a:ext uri="{FF2B5EF4-FFF2-40B4-BE49-F238E27FC236}">
                  <a16:creationId xmlns:a16="http://schemas.microsoft.com/office/drawing/2014/main" id="{80B5C583-71C1-4950-87AA-C595E792F6B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AC8CAF-F06E-436C-B699-50A03127F1C0}"/>
              </a:ext>
            </a:extLst>
          </p:cNvPr>
          <p:cNvSpPr txBox="1"/>
          <p:nvPr/>
        </p:nvSpPr>
        <p:spPr>
          <a:xfrm>
            <a:off x="95536" y="1992730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/>
              <a:t>클라이언트 </a:t>
            </a:r>
            <a:r>
              <a:rPr lang="en-US" altLang="ko-KR" sz="1000" b="1"/>
              <a:t>PC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FB655B-C28E-48B6-A7EA-3BBFF06D1F31}"/>
              </a:ext>
            </a:extLst>
          </p:cNvPr>
          <p:cNvSpPr txBox="1"/>
          <p:nvPr/>
        </p:nvSpPr>
        <p:spPr>
          <a:xfrm>
            <a:off x="161259" y="2800570"/>
            <a:ext cx="9733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/>
              <a:t>본사 </a:t>
            </a:r>
            <a:r>
              <a:rPr lang="en-US" altLang="ko-KR" sz="1000" b="1"/>
              <a:t>API </a:t>
            </a:r>
            <a:r>
              <a:rPr lang="ko-KR" altLang="en-US" sz="1000" b="1"/>
              <a:t>서버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24152-D87B-439B-BA3F-89EC1372A673}"/>
              </a:ext>
            </a:extLst>
          </p:cNvPr>
          <p:cNvSpPr txBox="1"/>
          <p:nvPr/>
        </p:nvSpPr>
        <p:spPr>
          <a:xfrm>
            <a:off x="25004" y="3347118"/>
            <a:ext cx="11095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/>
              <a:t>A </a:t>
            </a:r>
            <a:r>
              <a:rPr lang="ko-KR" altLang="en-US" sz="1000" b="1"/>
              <a:t>지점 </a:t>
            </a:r>
            <a:r>
              <a:rPr lang="en-US" altLang="ko-KR" sz="1000" b="1"/>
              <a:t>API </a:t>
            </a:r>
            <a:r>
              <a:rPr lang="ko-KR" altLang="en-US" sz="1000" b="1"/>
              <a:t>서버</a:t>
            </a:r>
            <a:endParaRPr lang="en-US" altLang="ko-KR" sz="1000" b="1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3CF2A71-FE6E-4A2E-8F38-9AF13FBDDA66}"/>
              </a:ext>
            </a:extLst>
          </p:cNvPr>
          <p:cNvCxnSpPr>
            <a:cxnSpLocks/>
          </p:cNvCxnSpPr>
          <p:nvPr/>
        </p:nvCxnSpPr>
        <p:spPr>
          <a:xfrm>
            <a:off x="2506968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02C8CF3-FED9-446D-8EAB-D0A64E318775}"/>
              </a:ext>
            </a:extLst>
          </p:cNvPr>
          <p:cNvCxnSpPr>
            <a:cxnSpLocks/>
          </p:cNvCxnSpPr>
          <p:nvPr/>
        </p:nvCxnSpPr>
        <p:spPr>
          <a:xfrm flipH="1">
            <a:off x="2506969" y="2912178"/>
            <a:ext cx="6200304" cy="0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04E918-B91E-4CD4-94E6-B8AAC3359865}"/>
              </a:ext>
            </a:extLst>
          </p:cNvPr>
          <p:cNvCxnSpPr>
            <a:cxnSpLocks/>
          </p:cNvCxnSpPr>
          <p:nvPr/>
        </p:nvCxnSpPr>
        <p:spPr>
          <a:xfrm>
            <a:off x="7720620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5A2FA6D-2E1B-4E4F-B714-72C08586B891}"/>
              </a:ext>
            </a:extLst>
          </p:cNvPr>
          <p:cNvCxnSpPr>
            <a:cxnSpLocks/>
          </p:cNvCxnSpPr>
          <p:nvPr/>
        </p:nvCxnSpPr>
        <p:spPr>
          <a:xfrm flipH="1" flipV="1">
            <a:off x="1473642" y="2238952"/>
            <a:ext cx="1010454" cy="164407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E773573-CD47-4F99-BBA8-F2A174969A05}"/>
              </a:ext>
            </a:extLst>
          </p:cNvPr>
          <p:cNvSpPr txBox="1"/>
          <p:nvPr/>
        </p:nvSpPr>
        <p:spPr>
          <a:xfrm>
            <a:off x="1323602" y="238031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0066FF"/>
                </a:solidFill>
              </a:rPr>
              <a:t>본사에 </a:t>
            </a:r>
            <a:endParaRPr lang="en-US" altLang="ko-KR" sz="900">
              <a:solidFill>
                <a:srgbClr val="0066FF"/>
              </a:solidFill>
            </a:endParaRPr>
          </a:p>
          <a:p>
            <a:r>
              <a:rPr lang="ko-KR" altLang="en-US" sz="900">
                <a:solidFill>
                  <a:srgbClr val="0066FF"/>
                </a:solidFill>
              </a:rPr>
              <a:t>도서 요청</a:t>
            </a:r>
            <a:endParaRPr lang="en-US" altLang="ko-KR" sz="900">
              <a:solidFill>
                <a:srgbClr val="0066FF"/>
              </a:solidFill>
            </a:endParaRPr>
          </a:p>
        </p:txBody>
      </p:sp>
      <p:grpSp>
        <p:nvGrpSpPr>
          <p:cNvPr id="46" name="Google Shape;550;p36">
            <a:extLst>
              <a:ext uri="{FF2B5EF4-FFF2-40B4-BE49-F238E27FC236}">
                <a16:creationId xmlns:a16="http://schemas.microsoft.com/office/drawing/2014/main" id="{71622B2C-55E8-4608-976D-A2BE78CB750B}"/>
              </a:ext>
            </a:extLst>
          </p:cNvPr>
          <p:cNvGrpSpPr/>
          <p:nvPr/>
        </p:nvGrpSpPr>
        <p:grpSpPr>
          <a:xfrm>
            <a:off x="8477098" y="1982228"/>
            <a:ext cx="339038" cy="326512"/>
            <a:chOff x="2583325" y="2972875"/>
            <a:chExt cx="462850" cy="445750"/>
          </a:xfrm>
        </p:grpSpPr>
        <p:sp>
          <p:nvSpPr>
            <p:cNvPr id="47" name="Google Shape;551;p36">
              <a:extLst>
                <a:ext uri="{FF2B5EF4-FFF2-40B4-BE49-F238E27FC236}">
                  <a16:creationId xmlns:a16="http://schemas.microsoft.com/office/drawing/2014/main" id="{B009E2A4-FACC-4EEE-A114-495F507EB947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52;p36">
              <a:extLst>
                <a:ext uri="{FF2B5EF4-FFF2-40B4-BE49-F238E27FC236}">
                  <a16:creationId xmlns:a16="http://schemas.microsoft.com/office/drawing/2014/main" id="{D6A46573-4470-4571-AFAF-15C9CCE8EFB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DCC2C817-9A42-44CD-B584-5A64C2FD0E21}"/>
              </a:ext>
            </a:extLst>
          </p:cNvPr>
          <p:cNvCxnSpPr>
            <a:cxnSpLocks/>
          </p:cNvCxnSpPr>
          <p:nvPr/>
        </p:nvCxnSpPr>
        <p:spPr>
          <a:xfrm flipH="1">
            <a:off x="7719683" y="2273845"/>
            <a:ext cx="733421" cy="633759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6EA5745-C62F-459C-9DB5-46F8F90D38A2}"/>
              </a:ext>
            </a:extLst>
          </p:cNvPr>
          <p:cNvSpPr txBox="1"/>
          <p:nvPr/>
        </p:nvSpPr>
        <p:spPr>
          <a:xfrm>
            <a:off x="7986769" y="2538467"/>
            <a:ext cx="9861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0066FF"/>
                </a:solidFill>
              </a:rPr>
              <a:t>응답</a:t>
            </a:r>
            <a:r>
              <a:rPr lang="en-US" altLang="ko-KR" sz="900">
                <a:solidFill>
                  <a:srgbClr val="0066FF"/>
                </a:solidFill>
              </a:rPr>
              <a:t>(</a:t>
            </a:r>
            <a:r>
              <a:rPr lang="ko-KR" altLang="en-US" sz="900">
                <a:solidFill>
                  <a:srgbClr val="0066FF"/>
                </a:solidFill>
              </a:rPr>
              <a:t>도서 반환</a:t>
            </a:r>
            <a:r>
              <a:rPr lang="en-US" altLang="ko-KR" sz="900">
                <a:solidFill>
                  <a:srgbClr val="0066FF"/>
                </a:solidFill>
              </a:rPr>
              <a:t>)</a:t>
            </a: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A8542023-BCF8-4130-804A-C67F48F94DFC}"/>
              </a:ext>
            </a:extLst>
          </p:cNvPr>
          <p:cNvCxnSpPr/>
          <p:nvPr/>
        </p:nvCxnSpPr>
        <p:spPr>
          <a:xfrm>
            <a:off x="2506968" y="1738746"/>
            <a:ext cx="0" cy="1928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E6BC631-6E3B-4093-8699-D922CE2203B1}"/>
              </a:ext>
            </a:extLst>
          </p:cNvPr>
          <p:cNvCxnSpPr/>
          <p:nvPr/>
        </p:nvCxnSpPr>
        <p:spPr>
          <a:xfrm>
            <a:off x="7719683" y="1738746"/>
            <a:ext cx="0" cy="1928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CF1C4F4A-018A-4FCF-BE68-4566CC0E9C79}"/>
              </a:ext>
            </a:extLst>
          </p:cNvPr>
          <p:cNvCxnSpPr>
            <a:cxnSpLocks/>
          </p:cNvCxnSpPr>
          <p:nvPr/>
        </p:nvCxnSpPr>
        <p:spPr>
          <a:xfrm flipH="1">
            <a:off x="2506969" y="1835350"/>
            <a:ext cx="5212714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BAA10F4-9667-4FD6-9335-E6CD1850238A}"/>
              </a:ext>
            </a:extLst>
          </p:cNvPr>
          <p:cNvSpPr txBox="1"/>
          <p:nvPr/>
        </p:nvSpPr>
        <p:spPr>
          <a:xfrm>
            <a:off x="2506039" y="1623330"/>
            <a:ext cx="52127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/>
              <a:t>본사 </a:t>
            </a:r>
            <a:r>
              <a:rPr lang="en-US" altLang="ko-KR" sz="900"/>
              <a:t>API </a:t>
            </a:r>
            <a:r>
              <a:rPr lang="ko-KR" altLang="en-US" sz="900"/>
              <a:t>서버 쓰레드</a:t>
            </a:r>
            <a:r>
              <a:rPr lang="en-US" altLang="ko-KR" sz="900"/>
              <a:t>(</a:t>
            </a:r>
            <a:r>
              <a:rPr lang="ko-KR" altLang="en-US" sz="900"/>
              <a:t>요청 쓰레드</a:t>
            </a:r>
            <a:r>
              <a:rPr lang="en-US" altLang="ko-KR" sz="900"/>
              <a:t>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7EA36D2-1B0F-4CD1-8DDC-1956B2A18E76}"/>
              </a:ext>
            </a:extLst>
          </p:cNvPr>
          <p:cNvGrpSpPr/>
          <p:nvPr/>
        </p:nvGrpSpPr>
        <p:grpSpPr>
          <a:xfrm>
            <a:off x="2506040" y="1918666"/>
            <a:ext cx="1793861" cy="461654"/>
            <a:chOff x="2403774" y="1938085"/>
            <a:chExt cx="913771" cy="969519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FA3773ED-56C8-4CA3-B25F-D0A9AA399A5F}"/>
                </a:ext>
              </a:extLst>
            </p:cNvPr>
            <p:cNvSpPr/>
            <p:nvPr/>
          </p:nvSpPr>
          <p:spPr>
            <a:xfrm>
              <a:off x="2411432" y="1938085"/>
              <a:ext cx="900745" cy="969519"/>
            </a:xfrm>
            <a:prstGeom prst="rect">
              <a:avLst/>
            </a:prstGeom>
            <a:solidFill>
              <a:schemeClr val="accent1">
                <a:alpha val="51000"/>
              </a:schemeClr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E88D671-2856-4F34-B065-A79AAA1918B7}"/>
                </a:ext>
              </a:extLst>
            </p:cNvPr>
            <p:cNvSpPr txBox="1"/>
            <p:nvPr/>
          </p:nvSpPr>
          <p:spPr>
            <a:xfrm>
              <a:off x="2403774" y="2243902"/>
              <a:ext cx="913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solidFill>
                    <a:srgbClr val="FF0000"/>
                  </a:solidFill>
                </a:rPr>
                <a:t>요청 처리 작업</a:t>
              </a:r>
              <a:r>
                <a:rPr lang="en-US" altLang="ko-KR" sz="900">
                  <a:solidFill>
                    <a:srgbClr val="FF0000"/>
                  </a:solidFill>
                </a:rPr>
                <a:t>(1)</a:t>
              </a: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2ECB9FC-2A69-4AC9-9F14-EB58121BA1E8}"/>
              </a:ext>
            </a:extLst>
          </p:cNvPr>
          <p:cNvSpPr txBox="1"/>
          <p:nvPr/>
        </p:nvSpPr>
        <p:spPr>
          <a:xfrm>
            <a:off x="4667535" y="3124356"/>
            <a:ext cx="12386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solidFill>
                  <a:srgbClr val="FF0000"/>
                </a:solidFill>
              </a:rPr>
              <a:t>처리중</a:t>
            </a:r>
            <a:endParaRPr lang="en-US" altLang="ko-KR" sz="900">
              <a:solidFill>
                <a:srgbClr val="FF0000"/>
              </a:solidFill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516DDF0E-98AD-41EF-86AC-04F463E61D91}"/>
              </a:ext>
            </a:extLst>
          </p:cNvPr>
          <p:cNvCxnSpPr>
            <a:cxnSpLocks/>
          </p:cNvCxnSpPr>
          <p:nvPr/>
        </p:nvCxnSpPr>
        <p:spPr>
          <a:xfrm flipH="1" flipV="1">
            <a:off x="4308474" y="2380319"/>
            <a:ext cx="442375" cy="1187047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A3088162-0FCA-4AC6-B118-6210D68C0089}"/>
              </a:ext>
            </a:extLst>
          </p:cNvPr>
          <p:cNvSpPr txBox="1"/>
          <p:nvPr/>
        </p:nvSpPr>
        <p:spPr>
          <a:xfrm>
            <a:off x="4341271" y="242357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rgbClr val="0066FF"/>
                </a:solidFill>
              </a:rPr>
              <a:t>A </a:t>
            </a:r>
            <a:r>
              <a:rPr lang="ko-KR" altLang="en-US" sz="900">
                <a:solidFill>
                  <a:srgbClr val="0066FF"/>
                </a:solidFill>
              </a:rPr>
              <a:t>지점에 </a:t>
            </a:r>
            <a:endParaRPr lang="en-US" altLang="ko-KR" sz="900">
              <a:solidFill>
                <a:srgbClr val="0066FF"/>
              </a:solidFill>
            </a:endParaRPr>
          </a:p>
          <a:p>
            <a:r>
              <a:rPr lang="ko-KR" altLang="en-US" sz="900">
                <a:solidFill>
                  <a:srgbClr val="0066FF"/>
                </a:solidFill>
              </a:rPr>
              <a:t>도서 요청</a:t>
            </a:r>
            <a:endParaRPr lang="en-US" altLang="ko-KR" sz="900">
              <a:solidFill>
                <a:srgbClr val="0066FF"/>
              </a:solidFill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FE68942B-2AA7-4A0D-B3CA-13910B3A1E88}"/>
              </a:ext>
            </a:extLst>
          </p:cNvPr>
          <p:cNvCxnSpPr>
            <a:cxnSpLocks/>
          </p:cNvCxnSpPr>
          <p:nvPr/>
        </p:nvCxnSpPr>
        <p:spPr>
          <a:xfrm>
            <a:off x="3407721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927100F9-5EA3-42C6-B066-D8833CE69192}"/>
              </a:ext>
            </a:extLst>
          </p:cNvPr>
          <p:cNvSpPr/>
          <p:nvPr/>
        </p:nvSpPr>
        <p:spPr>
          <a:xfrm>
            <a:off x="4750849" y="3620186"/>
            <a:ext cx="1372607" cy="659564"/>
          </a:xfrm>
          <a:prstGeom prst="rect">
            <a:avLst/>
          </a:prstGeom>
          <a:solidFill>
            <a:schemeClr val="accent4">
              <a:lumMod val="75000"/>
              <a:alpha val="33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465250-33AC-4FA1-A0E8-110B6BBBC6E1}"/>
              </a:ext>
            </a:extLst>
          </p:cNvPr>
          <p:cNvCxnSpPr>
            <a:cxnSpLocks/>
          </p:cNvCxnSpPr>
          <p:nvPr/>
        </p:nvCxnSpPr>
        <p:spPr>
          <a:xfrm flipH="1" flipV="1">
            <a:off x="4308474" y="2923681"/>
            <a:ext cx="442374" cy="1344678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88B3FAE4-2F0D-42B4-8801-9D4DEDC77991}"/>
              </a:ext>
            </a:extLst>
          </p:cNvPr>
          <p:cNvSpPr txBox="1"/>
          <p:nvPr/>
        </p:nvSpPr>
        <p:spPr>
          <a:xfrm>
            <a:off x="3938891" y="349249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rgbClr val="0066FF"/>
                </a:solidFill>
              </a:rPr>
              <a:t>B </a:t>
            </a:r>
            <a:r>
              <a:rPr lang="ko-KR" altLang="en-US" sz="900">
                <a:solidFill>
                  <a:srgbClr val="0066FF"/>
                </a:solidFill>
              </a:rPr>
              <a:t>지점에 </a:t>
            </a:r>
            <a:endParaRPr lang="en-US" altLang="ko-KR" sz="900">
              <a:solidFill>
                <a:srgbClr val="0066FF"/>
              </a:solidFill>
            </a:endParaRPr>
          </a:p>
          <a:p>
            <a:r>
              <a:rPr lang="ko-KR" altLang="en-US" sz="900">
                <a:solidFill>
                  <a:srgbClr val="0066FF"/>
                </a:solidFill>
              </a:rPr>
              <a:t>도서 요청</a:t>
            </a:r>
            <a:endParaRPr lang="en-US" altLang="ko-KR" sz="900">
              <a:solidFill>
                <a:srgbClr val="0066FF"/>
              </a:solidFill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688FCB85-72D4-4131-9FE9-3AE3586AE877}"/>
              </a:ext>
            </a:extLst>
          </p:cNvPr>
          <p:cNvGrpSpPr/>
          <p:nvPr/>
        </p:nvGrpSpPr>
        <p:grpSpPr>
          <a:xfrm>
            <a:off x="6534750" y="1918665"/>
            <a:ext cx="1183991" cy="969519"/>
            <a:chOff x="2403774" y="1938085"/>
            <a:chExt cx="913771" cy="969519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CC98C53D-2323-4858-8B0C-4C102A59A03D}"/>
                </a:ext>
              </a:extLst>
            </p:cNvPr>
            <p:cNvSpPr/>
            <p:nvPr/>
          </p:nvSpPr>
          <p:spPr>
            <a:xfrm>
              <a:off x="2411432" y="1938085"/>
              <a:ext cx="900745" cy="969519"/>
            </a:xfrm>
            <a:prstGeom prst="rect">
              <a:avLst/>
            </a:prstGeom>
            <a:solidFill>
              <a:schemeClr val="accent1">
                <a:alpha val="51000"/>
              </a:schemeClr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E71D821-00F6-41CB-9C02-DB5C0CD58B93}"/>
                </a:ext>
              </a:extLst>
            </p:cNvPr>
            <p:cNvSpPr txBox="1"/>
            <p:nvPr/>
          </p:nvSpPr>
          <p:spPr>
            <a:xfrm>
              <a:off x="2403774" y="2243902"/>
              <a:ext cx="913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solidFill>
                    <a:srgbClr val="FF0000"/>
                  </a:solidFill>
                </a:rPr>
                <a:t>응답 처리 작업</a:t>
              </a:r>
              <a:endParaRPr lang="en-US" altLang="ko-KR" sz="900">
                <a:solidFill>
                  <a:srgbClr val="FF0000"/>
                </a:solidFill>
              </a:endParaRPr>
            </a:p>
          </p:txBody>
        </p:sp>
      </p:grp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5333DFBC-18C0-487A-AECB-912E1D585785}"/>
              </a:ext>
            </a:extLst>
          </p:cNvPr>
          <p:cNvCxnSpPr>
            <a:cxnSpLocks/>
          </p:cNvCxnSpPr>
          <p:nvPr/>
        </p:nvCxnSpPr>
        <p:spPr>
          <a:xfrm flipH="1">
            <a:off x="5906178" y="2895307"/>
            <a:ext cx="628536" cy="672059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61550BEA-D016-45D0-A986-F6833FFFE6C6}"/>
              </a:ext>
            </a:extLst>
          </p:cNvPr>
          <p:cNvCxnSpPr>
            <a:cxnSpLocks/>
          </p:cNvCxnSpPr>
          <p:nvPr/>
        </p:nvCxnSpPr>
        <p:spPr>
          <a:xfrm>
            <a:off x="4308937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C30E9AC-3F1E-4697-8AF6-57CBD286FA98}"/>
              </a:ext>
            </a:extLst>
          </p:cNvPr>
          <p:cNvCxnSpPr>
            <a:cxnSpLocks/>
          </p:cNvCxnSpPr>
          <p:nvPr/>
        </p:nvCxnSpPr>
        <p:spPr>
          <a:xfrm flipH="1">
            <a:off x="6123456" y="2975212"/>
            <a:ext cx="411260" cy="1293147"/>
          </a:xfrm>
          <a:prstGeom prst="line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914E9CB-5E5D-4CFB-AFDF-AADDCAEC652A}"/>
              </a:ext>
            </a:extLst>
          </p:cNvPr>
          <p:cNvSpPr txBox="1"/>
          <p:nvPr/>
        </p:nvSpPr>
        <p:spPr>
          <a:xfrm>
            <a:off x="4759682" y="3806773"/>
            <a:ext cx="13538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solidFill>
                  <a:srgbClr val="FF0000"/>
                </a:solidFill>
              </a:rPr>
              <a:t>처리중</a:t>
            </a:r>
            <a:endParaRPr lang="en-US" altLang="ko-KR" sz="900">
              <a:solidFill>
                <a:srgbClr val="FF0000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C3F40C-E2FE-4959-8A44-4C9C4B80817D}"/>
              </a:ext>
            </a:extLst>
          </p:cNvPr>
          <p:cNvSpPr txBox="1"/>
          <p:nvPr/>
        </p:nvSpPr>
        <p:spPr>
          <a:xfrm>
            <a:off x="6220446" y="365183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0066FF"/>
                </a:solidFill>
              </a:rPr>
              <a:t>응답</a:t>
            </a:r>
            <a:endParaRPr lang="en-US" altLang="ko-KR" sz="900">
              <a:solidFill>
                <a:srgbClr val="0066FF"/>
              </a:solidFill>
            </a:endParaRPr>
          </a:p>
        </p:txBody>
      </p: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749B185B-6948-43CD-83FB-2924D887B887}"/>
              </a:ext>
            </a:extLst>
          </p:cNvPr>
          <p:cNvCxnSpPr>
            <a:cxnSpLocks/>
          </p:cNvCxnSpPr>
          <p:nvPr/>
        </p:nvCxnSpPr>
        <p:spPr>
          <a:xfrm>
            <a:off x="6534714" y="1931158"/>
            <a:ext cx="0" cy="2284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94E296B7-B958-40FC-921E-A786D054289F}"/>
              </a:ext>
            </a:extLst>
          </p:cNvPr>
          <p:cNvGrpSpPr/>
          <p:nvPr/>
        </p:nvGrpSpPr>
        <p:grpSpPr>
          <a:xfrm>
            <a:off x="2506040" y="2433653"/>
            <a:ext cx="1793861" cy="461654"/>
            <a:chOff x="2403774" y="1938085"/>
            <a:chExt cx="913771" cy="969519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95875291-BC7F-4A14-8AF0-C28225A0C7D4}"/>
                </a:ext>
              </a:extLst>
            </p:cNvPr>
            <p:cNvSpPr/>
            <p:nvPr/>
          </p:nvSpPr>
          <p:spPr>
            <a:xfrm>
              <a:off x="2411432" y="1938085"/>
              <a:ext cx="900745" cy="969519"/>
            </a:xfrm>
            <a:prstGeom prst="rect">
              <a:avLst/>
            </a:prstGeom>
            <a:solidFill>
              <a:schemeClr val="accent1">
                <a:alpha val="51000"/>
              </a:schemeClr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941398CD-3D33-4E06-BDE5-6D32A86F8204}"/>
                </a:ext>
              </a:extLst>
            </p:cNvPr>
            <p:cNvSpPr txBox="1"/>
            <p:nvPr/>
          </p:nvSpPr>
          <p:spPr>
            <a:xfrm>
              <a:off x="2403774" y="2243901"/>
              <a:ext cx="913771" cy="484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solidFill>
                    <a:srgbClr val="FF0000"/>
                  </a:solidFill>
                </a:rPr>
                <a:t>요청 처리 작업</a:t>
              </a:r>
              <a:r>
                <a:rPr lang="en-US" altLang="ko-KR" sz="900">
                  <a:solidFill>
                    <a:srgbClr val="FF0000"/>
                  </a:solidFill>
                </a:rPr>
                <a:t>(2)</a:t>
              </a: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BD3D882F-0B51-43F4-AB1D-7EBF799AF379}"/>
              </a:ext>
            </a:extLst>
          </p:cNvPr>
          <p:cNvSpPr txBox="1"/>
          <p:nvPr/>
        </p:nvSpPr>
        <p:spPr>
          <a:xfrm>
            <a:off x="5926785" y="3037766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solidFill>
                  <a:srgbClr val="0066FF"/>
                </a:solidFill>
              </a:rPr>
              <a:t>응답</a:t>
            </a:r>
            <a:endParaRPr lang="en-US" altLang="ko-KR" sz="900">
              <a:solidFill>
                <a:srgbClr val="0066FF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090F2D2-A01A-4C4D-A800-7C8ECE308640}"/>
              </a:ext>
            </a:extLst>
          </p:cNvPr>
          <p:cNvSpPr txBox="1"/>
          <p:nvPr/>
        </p:nvSpPr>
        <p:spPr>
          <a:xfrm>
            <a:off x="25004" y="3921799"/>
            <a:ext cx="11095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/>
              <a:t>B </a:t>
            </a:r>
            <a:r>
              <a:rPr lang="ko-KR" altLang="en-US" sz="1000" b="1"/>
              <a:t>지점 </a:t>
            </a:r>
            <a:r>
              <a:rPr lang="en-US" altLang="ko-KR" sz="1000" b="1"/>
              <a:t>API </a:t>
            </a:r>
            <a:r>
              <a:rPr lang="ko-KR" altLang="en-US" sz="1000" b="1"/>
              <a:t>서버</a:t>
            </a:r>
            <a:endParaRPr lang="en-US" altLang="ko-KR" sz="1000" b="1"/>
          </a:p>
        </p:txBody>
      </p:sp>
    </p:spTree>
    <p:extLst>
      <p:ext uri="{BB962C8B-B14F-4D97-AF65-F5344CB8AC3E}">
        <p14:creationId xmlns:p14="http://schemas.microsoft.com/office/powerpoint/2010/main" val="4160607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931183" y="1417089"/>
            <a:ext cx="7465202" cy="46595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⊳"/>
            </a:pP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작업 쓰레드의 종료와 상관없이 요청을 한 쓰레드는 차단되지 않는다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1" name="Google Shape;167;p16">
            <a:extLst>
              <a:ext uri="{FF2B5EF4-FFF2-40B4-BE49-F238E27FC236}">
                <a16:creationId xmlns:a16="http://schemas.microsoft.com/office/drawing/2014/main" id="{A764D207-75CF-435F-9BA9-5FD564044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447" y="277650"/>
            <a:ext cx="7244888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Non-Blocking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I/O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방식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(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요약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)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3DF7088A-EB93-4A38-B341-4B4A281F4DE0}"/>
              </a:ext>
            </a:extLst>
          </p:cNvPr>
          <p:cNvSpPr txBox="1">
            <a:spLocks/>
          </p:cNvSpPr>
          <p:nvPr/>
        </p:nvSpPr>
        <p:spPr>
          <a:xfrm>
            <a:off x="931183" y="1883044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적은 수의 쓰레드를 사용하기 때문에 쓰레드 전환 비용이 적게 발생한다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C137E100-B1D3-4149-B4F0-AE1200EB3B77}"/>
              </a:ext>
            </a:extLst>
          </p:cNvPr>
          <p:cNvSpPr txBox="1">
            <a:spLocks/>
          </p:cNvSpPr>
          <p:nvPr/>
        </p:nvSpPr>
        <p:spPr>
          <a:xfrm>
            <a:off x="931183" y="2328547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 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CPU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대기 시간 및 사용량에 있어서도 효율적이다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A7679E0D-A817-47DD-96EA-84321C5665CD}"/>
              </a:ext>
            </a:extLst>
          </p:cNvPr>
          <p:cNvSpPr txBox="1">
            <a:spLocks/>
          </p:cNvSpPr>
          <p:nvPr/>
        </p:nvSpPr>
        <p:spPr>
          <a:xfrm>
            <a:off x="931182" y="2794502"/>
            <a:ext cx="7961805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그러나</a:t>
            </a:r>
            <a:r>
              <a:rPr lang="en-US" altLang="ko-KR" sz="1600" b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CPU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많이 사용하는 작업이 포함 되어 있을 경우에는 성능 향상에 악영향을 준다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14" name="Google Shape;168;p16">
            <a:extLst>
              <a:ext uri="{FF2B5EF4-FFF2-40B4-BE49-F238E27FC236}">
                <a16:creationId xmlns:a16="http://schemas.microsoft.com/office/drawing/2014/main" id="{900D9CAB-489F-482F-BA57-E41C20F95D94}"/>
              </a:ext>
            </a:extLst>
          </p:cNvPr>
          <p:cNvSpPr txBox="1">
            <a:spLocks/>
          </p:cNvSpPr>
          <p:nvPr/>
        </p:nvSpPr>
        <p:spPr>
          <a:xfrm>
            <a:off x="931183" y="3260457"/>
            <a:ext cx="7746652" cy="76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또한</a:t>
            </a:r>
            <a:r>
              <a:rPr lang="en-US" altLang="ko-KR" sz="1600" b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사용자 요청에서 응답 까지의 과정에 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Blocking I/O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요소가 포함되어 있을 경우 </a:t>
            </a:r>
            <a:endParaRPr lang="en-US" altLang="ko-KR" sz="16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76200" indent="0">
              <a:buNone/>
            </a:pP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Non-Blocking</a:t>
            </a:r>
            <a:r>
              <a:rPr lang="ko-KR" altLang="en-US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이점을 발휘하기 힘들다</a:t>
            </a:r>
            <a:r>
              <a:rPr lang="en-US" altLang="ko-KR" sz="16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000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uiExpand="1" build="p"/>
      <p:bldP spid="13" grpId="0" uiExpand="1" build="p"/>
      <p:bldP spid="7" grpId="0" uiExpand="1" build="p"/>
      <p:bldP spid="12" grpId="0" uiExpand="1" build="p"/>
      <p:bldP spid="14" grpId="0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2285</TotalTime>
  <Words>460</Words>
  <Application>Microsoft Office PowerPoint</Application>
  <PresentationFormat>화면 슬라이드 쇼(16:9)</PresentationFormat>
  <Paragraphs>83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나눔스퀘어라운드 ExtraBold</vt:lpstr>
      <vt:lpstr>Wingdings</vt:lpstr>
      <vt:lpstr>Encode Sans Semi Condensed Light</vt:lpstr>
      <vt:lpstr>Arial</vt:lpstr>
      <vt:lpstr>나눔바른고딕</vt:lpstr>
      <vt:lpstr>Encode Sans Semi Condensed SemiBold</vt:lpstr>
      <vt:lpstr>Ferdinand template</vt:lpstr>
      <vt:lpstr>Kevin의 알기 쉬운 </vt:lpstr>
      <vt:lpstr>Blocking I/O 방식(그림)</vt:lpstr>
      <vt:lpstr>Blocking I/O 방식(요약)</vt:lpstr>
      <vt:lpstr>Blocking I/O 방식(문제점)</vt:lpstr>
      <vt:lpstr>Blocking I/O 방식(문제점)</vt:lpstr>
      <vt:lpstr>Non-Blocking I/O 방식(그림)</vt:lpstr>
      <vt:lpstr>Non-Blocking I/O 방식(요약)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91</cp:revision>
  <dcterms:modified xsi:type="dcterms:W3CDTF">2021-01-15T09:32:43Z</dcterms:modified>
</cp:coreProperties>
</file>