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7" r:id="rId1"/>
  </p:sldMasterIdLst>
  <p:notesMasterIdLst>
    <p:notesMasterId r:id="rId6"/>
  </p:notesMasterIdLst>
  <p:sldIdLst>
    <p:sldId id="319" r:id="rId2"/>
    <p:sldId id="322" r:id="rId3"/>
    <p:sldId id="321" r:id="rId4"/>
    <p:sldId id="284" r:id="rId5"/>
  </p:sldIdLst>
  <p:sldSz cx="9144000" cy="5143500" type="screen16x9"/>
  <p:notesSz cx="6858000" cy="9144000"/>
  <p:embeddedFontLst>
    <p:embeddedFont>
      <p:font typeface="나눔고딕 ExtraBold" panose="020B0600000101010101" charset="-127"/>
      <p:bold r:id="rId7"/>
    </p:embeddedFont>
    <p:embeddedFont>
      <p:font typeface="나눔스퀘어라운드 ExtraBold" panose="020B0600000101010101" charset="-127"/>
      <p:bold r:id="rId8"/>
    </p:embeddedFont>
    <p:embeddedFont>
      <p:font typeface="Encode Sans Semi Condensed Light" panose="020B0600000101010101" charset="0"/>
      <p:regular r:id="rId9"/>
      <p:bold r:id="rId10"/>
    </p:embeddedFont>
    <p:embeddedFont>
      <p:font typeface="Encode Sans Semi Condensed SemiBold" panose="00000706000000000000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황 정식" initials="황정" lastIdx="1" clrIdx="0">
    <p:extLst>
      <p:ext uri="{19B8F6BF-5375-455C-9EA6-DF929625EA0E}">
        <p15:presenceInfo xmlns:p15="http://schemas.microsoft.com/office/powerpoint/2012/main" userId="황 정식" providerId="None"/>
      </p:ext>
    </p:extLst>
  </p:cmAuthor>
  <p:cmAuthor id="2" name="황정식" initials="황" lastIdx="2" clrIdx="1">
    <p:extLst>
      <p:ext uri="{19B8F6BF-5375-455C-9EA6-DF929625EA0E}">
        <p15:presenceInfo xmlns:p15="http://schemas.microsoft.com/office/powerpoint/2012/main" userId="황정식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66FF"/>
    <a:srgbClr val="6DB33F"/>
    <a:srgbClr val="6699FF"/>
    <a:srgbClr val="FF9900"/>
    <a:srgbClr val="99CCFF"/>
    <a:srgbClr val="0033CC"/>
    <a:srgbClr val="003399"/>
    <a:srgbClr val="0066FF"/>
    <a:srgbClr val="3333FF"/>
    <a:srgbClr val="00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733CE0-5CC8-49EC-A5A2-AC90B53F43E9}">
  <a:tblStyle styleId="{21733CE0-5CC8-49EC-A5A2-AC90B53F43E9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41" autoAdjust="0"/>
    <p:restoredTop sz="76000" autoAdjust="0"/>
  </p:normalViewPr>
  <p:slideViewPr>
    <p:cSldViewPr snapToGrid="0">
      <p:cViewPr varScale="1">
        <p:scale>
          <a:sx n="114" d="100"/>
          <a:sy n="114" d="100"/>
        </p:scale>
        <p:origin x="1968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font" Target="fonts/font6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font" Target="fonts/font3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996649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21719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g41a98d525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9" name="Google Shape;1149;g41a98d525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Tx/>
              <a:buChar char="-"/>
            </a:pPr>
            <a:endParaRPr lang="en-US" altLang="ko-KR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9" name="Google Shape;109;p10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110" name="Google Shape;110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2" name="Google Shape;112;p10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113" name="Google Shape;113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5" name="Google Shape;115;p10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16" name="Google Shape;116;p10"/>
          <p:cNvGrpSpPr/>
          <p:nvPr/>
        </p:nvGrpSpPr>
        <p:grpSpPr>
          <a:xfrm flipH="1">
            <a:off x="1" y="524824"/>
            <a:ext cx="600055" cy="374899"/>
            <a:chOff x="5211448" y="3165393"/>
            <a:chExt cx="1477967" cy="784800"/>
          </a:xfrm>
        </p:grpSpPr>
        <p:sp>
          <p:nvSpPr>
            <p:cNvPr id="117" name="Google Shape;117;p10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0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19" name="Google Shape;119;p10"/>
          <p:cNvGrpSpPr/>
          <p:nvPr/>
        </p:nvGrpSpPr>
        <p:grpSpPr>
          <a:xfrm rot="10800000" flipH="1">
            <a:off x="84" y="8"/>
            <a:ext cx="758573" cy="531131"/>
            <a:chOff x="0" y="266575"/>
            <a:chExt cx="7503194" cy="1687200"/>
          </a:xfrm>
        </p:grpSpPr>
        <p:sp>
          <p:nvSpPr>
            <p:cNvPr id="120" name="Google Shape;120;p10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0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bg>
      <p:bgPr>
        <a:gradFill>
          <a:gsLst>
            <a:gs pos="0">
              <a:srgbClr val="4F5876"/>
            </a:gs>
            <a:gs pos="100000">
              <a:srgbClr val="1D1F25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 rot="10800000">
            <a:off x="6904227" y="249339"/>
            <a:ext cx="2034302" cy="2271600"/>
            <a:chOff x="208025" y="2621275"/>
            <a:chExt cx="2034302" cy="2271600"/>
          </a:xfrm>
        </p:grpSpPr>
        <p:sp>
          <p:nvSpPr>
            <p:cNvPr id="11" name="Google Shape;11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3" name="Google Shape;13;p2"/>
          <p:cNvGrpSpPr/>
          <p:nvPr/>
        </p:nvGrpSpPr>
        <p:grpSpPr>
          <a:xfrm>
            <a:off x="208025" y="2621275"/>
            <a:ext cx="2034302" cy="2271600"/>
            <a:chOff x="208025" y="2621275"/>
            <a:chExt cx="2034302" cy="2271600"/>
          </a:xfrm>
        </p:grpSpPr>
        <p:sp>
          <p:nvSpPr>
            <p:cNvPr id="14" name="Google Shape;14;p2"/>
            <p:cNvSpPr/>
            <p:nvPr/>
          </p:nvSpPr>
          <p:spPr>
            <a:xfrm rot="-5400000" flipH="1">
              <a:off x="89375" y="2739925"/>
              <a:ext cx="2271600" cy="2034300"/>
            </a:xfrm>
            <a:prstGeom prst="parallelogram">
              <a:avLst>
                <a:gd name="adj" fmla="val 22770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617527" y="4047646"/>
              <a:ext cx="1624800" cy="380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/>
          <p:nvPr/>
        </p:nvSpPr>
        <p:spPr>
          <a:xfrm rot="10800000" flipH="1">
            <a:off x="624300" y="1092075"/>
            <a:ext cx="7895400" cy="2959200"/>
          </a:xfrm>
          <a:prstGeom prst="rect">
            <a:avLst/>
          </a:prstGeom>
          <a:gradFill>
            <a:gsLst>
              <a:gs pos="0">
                <a:schemeClr val="accent1"/>
              </a:gs>
              <a:gs pos="100000">
                <a:schemeClr val="accent2"/>
              </a:gs>
            </a:gsLst>
            <a:lin ang="5400012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101000" y="1738825"/>
            <a:ext cx="6942000" cy="16659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6813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 + 1 column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oogle Shape;38;p5"/>
          <p:cNvGrpSpPr/>
          <p:nvPr/>
        </p:nvGrpSpPr>
        <p:grpSpPr>
          <a:xfrm>
            <a:off x="0" y="277661"/>
            <a:ext cx="7817376" cy="1293452"/>
            <a:chOff x="0" y="277661"/>
            <a:chExt cx="7817376" cy="1293452"/>
          </a:xfrm>
        </p:grpSpPr>
        <p:sp>
          <p:nvSpPr>
            <p:cNvPr id="39" name="Google Shape;39;p5"/>
            <p:cNvSpPr/>
            <p:nvPr/>
          </p:nvSpPr>
          <p:spPr>
            <a:xfrm rot="-5400000" flipH="1">
              <a:off x="112050" y="481364"/>
              <a:ext cx="977700" cy="1201800"/>
            </a:xfrm>
            <a:prstGeom prst="parallelogram">
              <a:avLst>
                <a:gd name="adj" fmla="val 10943"/>
              </a:avLst>
            </a:prstGeom>
            <a:gradFill>
              <a:gsLst>
                <a:gs pos="0">
                  <a:schemeClr val="accent1"/>
                </a:gs>
                <a:gs pos="29000">
                  <a:schemeClr val="accent2"/>
                </a:gs>
                <a:gs pos="100000">
                  <a:schemeClr val="accent3"/>
                </a:gs>
              </a:gsLst>
              <a:lin ang="54007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" name="Google Shape;40;p5"/>
            <p:cNvSpPr/>
            <p:nvPr/>
          </p:nvSpPr>
          <p:spPr>
            <a:xfrm rot="10800000">
              <a:off x="278209" y="1169850"/>
              <a:ext cx="927900" cy="2979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1" name="Google Shape;41;p5"/>
            <p:cNvGrpSpPr/>
            <p:nvPr/>
          </p:nvGrpSpPr>
          <p:grpSpPr>
            <a:xfrm>
              <a:off x="284659" y="277661"/>
              <a:ext cx="7532717" cy="895903"/>
              <a:chOff x="0" y="266575"/>
              <a:chExt cx="6046490" cy="1687200"/>
            </a:xfrm>
          </p:grpSpPr>
          <p:sp>
            <p:nvSpPr>
              <p:cNvPr id="42" name="Google Shape;42;p5"/>
              <p:cNvSpPr/>
              <p:nvPr/>
            </p:nvSpPr>
            <p:spPr>
              <a:xfrm rot="10800000" flipH="1">
                <a:off x="0" y="266575"/>
                <a:ext cx="5867700" cy="1687200"/>
              </a:xfrm>
              <a:prstGeom prst="rect">
                <a:avLst/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5"/>
              <p:cNvSpPr/>
              <p:nvPr/>
            </p:nvSpPr>
            <p:spPr>
              <a:xfrm rot="10800000">
                <a:off x="5864390" y="266658"/>
                <a:ext cx="182100" cy="1684500"/>
              </a:xfrm>
              <a:prstGeom prst="triangle">
                <a:avLst>
                  <a:gd name="adj" fmla="val 100000"/>
                </a:avLst>
              </a:prstGeom>
              <a:gradFill>
                <a:gsLst>
                  <a:gs pos="0">
                    <a:schemeClr val="accent1"/>
                  </a:gs>
                  <a:gs pos="100000">
                    <a:schemeClr val="accent2"/>
                  </a:gs>
                </a:gsLst>
                <a:lin ang="5400012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4" name="Google Shape;44;p5"/>
          <p:cNvGrpSpPr/>
          <p:nvPr/>
        </p:nvGrpSpPr>
        <p:grpSpPr>
          <a:xfrm rot="10800000" flipH="1">
            <a:off x="8543953" y="4243733"/>
            <a:ext cx="600055" cy="374899"/>
            <a:chOff x="5211448" y="3165393"/>
            <a:chExt cx="1477967" cy="784800"/>
          </a:xfrm>
        </p:grpSpPr>
        <p:sp>
          <p:nvSpPr>
            <p:cNvPr id="45" name="Google Shape;45;p5"/>
            <p:cNvSpPr/>
            <p:nvPr/>
          </p:nvSpPr>
          <p:spPr>
            <a:xfrm rot="-5400000" flipH="1">
              <a:off x="5558565" y="2819343"/>
              <a:ext cx="784800" cy="1476900"/>
            </a:xfrm>
            <a:prstGeom prst="triangle">
              <a:avLst>
                <a:gd name="adj" fmla="val 5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0800025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5"/>
            <p:cNvSpPr/>
            <p:nvPr/>
          </p:nvSpPr>
          <p:spPr>
            <a:xfrm rot="10800000" flipH="1">
              <a:off x="5211448" y="3169975"/>
              <a:ext cx="1477800" cy="389700"/>
            </a:xfrm>
            <a:prstGeom prst="rtTriangle">
              <a:avLst/>
            </a:prstGeom>
            <a:gradFill>
              <a:gsLst>
                <a:gs pos="0">
                  <a:schemeClr val="accent1"/>
                </a:gs>
                <a:gs pos="47000">
                  <a:schemeClr val="accent1"/>
                </a:gs>
                <a:gs pos="100000">
                  <a:schemeClr val="accent2"/>
                </a:gs>
              </a:gsLst>
              <a:lin ang="5999900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" name="Google Shape;47;p5"/>
          <p:cNvGrpSpPr/>
          <p:nvPr/>
        </p:nvGrpSpPr>
        <p:grpSpPr>
          <a:xfrm flipH="1">
            <a:off x="8385351" y="4612318"/>
            <a:ext cx="758573" cy="531131"/>
            <a:chOff x="0" y="266575"/>
            <a:chExt cx="7503194" cy="1687200"/>
          </a:xfrm>
        </p:grpSpPr>
        <p:sp>
          <p:nvSpPr>
            <p:cNvPr id="48" name="Google Shape;48;p5"/>
            <p:cNvSpPr/>
            <p:nvPr/>
          </p:nvSpPr>
          <p:spPr>
            <a:xfrm rot="10800000" flipH="1">
              <a:off x="0" y="266575"/>
              <a:ext cx="5867700" cy="1687200"/>
            </a:xfrm>
            <a:prstGeom prst="rect">
              <a:avLst/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 rot="10800000">
              <a:off x="5808794" y="266660"/>
              <a:ext cx="1694400" cy="1684500"/>
            </a:xfrm>
            <a:prstGeom prst="triangle">
              <a:avLst>
                <a:gd name="adj" fmla="val 100000"/>
              </a:avLst>
            </a:prstGeom>
            <a:gradFill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38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0" name="Google Shape;50;p5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body" idx="1"/>
          </p:nvPr>
        </p:nvSpPr>
        <p:spPr>
          <a:xfrm>
            <a:off x="1206100" y="1706200"/>
            <a:ext cx="7026900" cy="306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⊳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▸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▸"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143565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533400" y="277650"/>
            <a:ext cx="6840600" cy="895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470125" y="1553800"/>
            <a:ext cx="6915300" cy="30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43950" y="4612325"/>
            <a:ext cx="485400" cy="5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lvl="1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lvl="2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lvl="3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lvl="4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lvl="5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lvl="6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lvl="7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lvl="8" algn="r">
              <a:buNone/>
              <a:defRPr sz="1300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  <p:sldLayoutId id="2147483658" r:id="rId2"/>
    <p:sldLayoutId id="2147483659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ITVillage-Kevin/spring-reactive-02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"/>
          <p:cNvSpPr txBox="1">
            <a:spLocks noGrp="1"/>
          </p:cNvSpPr>
          <p:nvPr>
            <p:ph type="ctrTitle"/>
          </p:nvPr>
        </p:nvSpPr>
        <p:spPr>
          <a:xfrm>
            <a:off x="87405" y="0"/>
            <a:ext cx="8639735" cy="105144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Kevin</a:t>
            </a:r>
            <a:r>
              <a:rPr lang="ko-KR" altLang="en-US" sz="3200">
                <a:solidFill>
                  <a:schemeClr val="accent1">
                    <a:lumMod val="40000"/>
                    <a:lumOff val="60000"/>
                  </a:schemeClr>
                </a:solidFill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알기 쉬운 </a:t>
            </a:r>
            <a:endParaRPr sz="3200">
              <a:solidFill>
                <a:schemeClr val="accent1">
                  <a:lumMod val="40000"/>
                  <a:lumOff val="60000"/>
                </a:schemeClr>
              </a:solidFill>
              <a:latin typeface="나눔스퀘어라운드 ExtraBold" panose="020B0600000101010101" charset="-127"/>
              <a:ea typeface="나눔스퀘어라운드 ExtraBold" panose="020B0600000101010101" charset="-127"/>
            </a:endParaRPr>
          </a:p>
        </p:txBody>
      </p:sp>
      <p:sp>
        <p:nvSpPr>
          <p:cNvPr id="4" name="Google Shape;126;p11">
            <a:extLst>
              <a:ext uri="{FF2B5EF4-FFF2-40B4-BE49-F238E27FC236}">
                <a16:creationId xmlns:a16="http://schemas.microsoft.com/office/drawing/2014/main" id="{7014F73D-F994-4842-AC03-FB3329414776}"/>
              </a:ext>
            </a:extLst>
          </p:cNvPr>
          <p:cNvSpPr txBox="1">
            <a:spLocks/>
          </p:cNvSpPr>
          <p:nvPr/>
        </p:nvSpPr>
        <p:spPr>
          <a:xfrm>
            <a:off x="2393157" y="4092060"/>
            <a:ext cx="6750843" cy="105144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l"/>
            <a:r>
              <a:rPr lang="en-US" sz="3200" b="1">
                <a:ln w="12700">
                  <a:solidFill>
                    <a:schemeClr val="accent3">
                      <a:lumMod val="50000"/>
                    </a:schemeClr>
                  </a:solidFill>
                  <a:prstDash val="solid"/>
                </a:ln>
                <a:pattFill prst="narHorz">
                  <a:fgClr>
                    <a:schemeClr val="accent3"/>
                  </a:fgClr>
                  <a:bgClr>
                    <a:schemeClr val="accent3">
                      <a:lumMod val="40000"/>
                      <a:lumOff val="60000"/>
                    </a:schemeClr>
                  </a:bgClr>
                </a:pattFill>
                <a:effectLst>
                  <a:innerShdw blurRad="177800">
                    <a:schemeClr val="accent3">
                      <a:lumMod val="50000"/>
                    </a:schemeClr>
                  </a:innerShdw>
                </a:effectLst>
                <a:latin typeface="나눔스퀘어라운드 ExtraBold" panose="020B0600000101010101" charset="-127"/>
                <a:ea typeface="나눔스퀘어라운드 ExtraBold" panose="020B0600000101010101" charset="-127"/>
              </a:rPr>
              <a:t>Spring Reactive Web Applications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9F15B79C-E878-4CB4-AA38-2CA58A694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74268" y="114341"/>
            <a:ext cx="2919413" cy="888335"/>
          </a:xfrm>
          <a:prstGeom prst="rect">
            <a:avLst/>
          </a:prstGeom>
        </p:spPr>
      </p:pic>
      <p:pic>
        <p:nvPicPr>
          <p:cNvPr id="11" name="그림 10" descr="실내, 앉아있는, 컴퓨터, 작은이(가) 표시된 사진&#10;&#10;자동 생성된 설명">
            <a:extLst>
              <a:ext uri="{FF2B5EF4-FFF2-40B4-BE49-F238E27FC236}">
                <a16:creationId xmlns:a16="http://schemas.microsoft.com/office/drawing/2014/main" id="{41CBB6E7-9A32-4310-B735-13A43B1EB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562840"/>
            <a:ext cx="578857" cy="580660"/>
          </a:xfrm>
          <a:prstGeom prst="rect">
            <a:avLst/>
          </a:prstGeom>
        </p:spPr>
      </p:pic>
      <p:sp>
        <p:nvSpPr>
          <p:cNvPr id="2" name="Google Shape;126;p11">
            <a:extLst>
              <a:ext uri="{FF2B5EF4-FFF2-40B4-BE49-F238E27FC236}">
                <a16:creationId xmlns:a16="http://schemas.microsoft.com/office/drawing/2014/main" id="{B154FAC8-F82E-49B1-8799-6998C9411213}"/>
              </a:ext>
            </a:extLst>
          </p:cNvPr>
          <p:cNvSpPr txBox="1">
            <a:spLocks/>
          </p:cNvSpPr>
          <p:nvPr/>
        </p:nvSpPr>
        <p:spPr>
          <a:xfrm>
            <a:off x="665629" y="1117017"/>
            <a:ext cx="7853083" cy="2866047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Encode Sans Semi Condensed SemiBold"/>
              <a:buNone/>
              <a:defRPr sz="60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r>
              <a:rPr lang="en-US" altLang="ko-KR" sz="40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Operators</a:t>
            </a:r>
          </a:p>
          <a:p>
            <a:r>
              <a:rPr lang="en-US" altLang="ko-KR" sz="3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: Transforming an existing sequence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5"/>
            <a:ext cx="7465202" cy="7118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데이터를 모아서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List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변환한 후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변환된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List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하는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반환한다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collectList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807082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만약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 Sequence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비어 있다면 비어 있는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List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5" name="그림 4" descr="도표, 스크린샷, 라인이(가) 표시된 사진&#10;&#10;자동 생성된 설명">
            <a:extLst>
              <a:ext uri="{FF2B5EF4-FFF2-40B4-BE49-F238E27FC236}">
                <a16:creationId xmlns:a16="http://schemas.microsoft.com/office/drawing/2014/main" id="{2FADB2F6-5CA1-10E9-5C86-1051E11665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1993" y="2624616"/>
            <a:ext cx="4524704" cy="2472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628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68;p16">
            <a:extLst>
              <a:ext uri="{FF2B5EF4-FFF2-40B4-BE49-F238E27FC236}">
                <a16:creationId xmlns:a16="http://schemas.microsoft.com/office/drawing/2014/main" id="{803E2E8C-C2A7-4856-B22D-CCAFC535AE8D}"/>
              </a:ext>
            </a:extLst>
          </p:cNvPr>
          <p:cNvSpPr txBox="1">
            <a:spLocks/>
          </p:cNvSpPr>
          <p:nvPr/>
        </p:nvSpPr>
        <p:spPr>
          <a:xfrm>
            <a:off x="1206100" y="1156455"/>
            <a:ext cx="7465202" cy="368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Flux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에서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된 데이터를 기반으로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key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와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value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생성하여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Map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의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Element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로 추가한 후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, 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최종적으로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Map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하는 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Mono</a:t>
            </a:r>
            <a:r>
              <a:rPr lang="ko-KR" altLang="en-US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를 반환한다</a:t>
            </a:r>
            <a:r>
              <a:rPr lang="en-US" altLang="ko-KR" sz="1400" b="1" dirty="0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sp>
        <p:nvSpPr>
          <p:cNvPr id="8" name="Google Shape;167;p16">
            <a:extLst>
              <a:ext uri="{FF2B5EF4-FFF2-40B4-BE49-F238E27FC236}">
                <a16:creationId xmlns:a16="http://schemas.microsoft.com/office/drawing/2014/main" id="{187CB6B3-F3A7-422F-BC2F-99589F55FD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695" y="277650"/>
            <a:ext cx="7221640" cy="895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2400">
                <a:latin typeface="나눔스퀘어라운드 ExtraBold" panose="020B0600000101010101" pitchFamily="50" charset="-127"/>
                <a:ea typeface="나눔스퀘어라운드 ExtraBold" panose="020B0600000101010101" pitchFamily="50" charset="-127"/>
              </a:rPr>
              <a:t>collectMap</a:t>
            </a:r>
          </a:p>
        </p:txBody>
      </p:sp>
      <p:sp>
        <p:nvSpPr>
          <p:cNvPr id="7" name="Google Shape;168;p16">
            <a:extLst>
              <a:ext uri="{FF2B5EF4-FFF2-40B4-BE49-F238E27FC236}">
                <a16:creationId xmlns:a16="http://schemas.microsoft.com/office/drawing/2014/main" id="{B5326EAC-9C03-468D-905C-33A38CF5D776}"/>
              </a:ext>
            </a:extLst>
          </p:cNvPr>
          <p:cNvSpPr txBox="1">
            <a:spLocks/>
          </p:cNvSpPr>
          <p:nvPr/>
        </p:nvSpPr>
        <p:spPr>
          <a:xfrm>
            <a:off x="1206100" y="1807082"/>
            <a:ext cx="7465202" cy="7118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만약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Upstream Sequence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가 비어 있다면 비어 있는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Map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을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Downstream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으로 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emit</a:t>
            </a:r>
            <a:r>
              <a:rPr lang="ko-KR" altLang="en-US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한다</a:t>
            </a:r>
            <a:r>
              <a:rPr lang="en-US" altLang="ko-KR" sz="1400" b="1">
                <a:latin typeface="나눔스퀘어라운드 ExtraBold" panose="020B0600000101010101" charset="-127"/>
                <a:ea typeface="나눔스퀘어라운드 ExtraBold" panose="020B0600000101010101" charset="-127"/>
              </a:rPr>
              <a:t>.</a:t>
            </a:r>
          </a:p>
        </p:txBody>
      </p:sp>
      <p:pic>
        <p:nvPicPr>
          <p:cNvPr id="3" name="그림 2" descr="텍스트, 스크린샷, 도표, 라인이(가) 표시된 사진&#10;&#10;자동 생성된 설명">
            <a:extLst>
              <a:ext uri="{FF2B5EF4-FFF2-40B4-BE49-F238E27FC236}">
                <a16:creationId xmlns:a16="http://schemas.microsoft.com/office/drawing/2014/main" id="{B27B887C-1FA8-5D36-B468-7E2884DD7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6454" y="2550839"/>
            <a:ext cx="5171092" cy="2597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0699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7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D966"/>
            </a:gs>
            <a:gs pos="100000">
              <a:srgbClr val="FF9900"/>
            </a:gs>
          </a:gsLst>
          <a:path path="circle">
            <a:fillToRect l="50000" t="50000" r="50000" b="50000"/>
          </a:path>
          <a:tileRect/>
        </a:gradFill>
        <a:effectLst/>
      </p:bgPr>
    </p:bg>
    <p:spTree>
      <p:nvGrpSpPr>
        <p:cNvPr id="1" name="Shape 1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66;p25">
            <a:extLst>
              <a:ext uri="{FF2B5EF4-FFF2-40B4-BE49-F238E27FC236}">
                <a16:creationId xmlns:a16="http://schemas.microsoft.com/office/drawing/2014/main" id="{819E02CA-6AA4-4C1F-A00A-8D938F3CFAC9}"/>
              </a:ext>
            </a:extLst>
          </p:cNvPr>
          <p:cNvSpPr txBox="1">
            <a:spLocks/>
          </p:cNvSpPr>
          <p:nvPr/>
        </p:nvSpPr>
        <p:spPr>
          <a:xfrm>
            <a:off x="685800" y="1683170"/>
            <a:ext cx="7772400" cy="11598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en-US" altLang="ko-KR" sz="36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Operators</a:t>
            </a:r>
          </a:p>
          <a:p>
            <a:pPr algn="ctr"/>
            <a:r>
              <a:rPr lang="en-US" altLang="ko-KR" sz="3600">
                <a:solidFill>
                  <a:srgbClr val="6666FF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: Peeking into a sequence</a:t>
            </a:r>
            <a:endParaRPr lang="ko-KR" altLang="en-US" sz="3600">
              <a:solidFill>
                <a:srgbClr val="6666FF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" name="Google Shape;267;p25">
            <a:extLst>
              <a:ext uri="{FF2B5EF4-FFF2-40B4-BE49-F238E27FC236}">
                <a16:creationId xmlns:a16="http://schemas.microsoft.com/office/drawing/2014/main" id="{DECF2217-810F-4571-BBF1-67DAD149149A}"/>
              </a:ext>
            </a:extLst>
          </p:cNvPr>
          <p:cNvSpPr txBox="1">
            <a:spLocks/>
          </p:cNvSpPr>
          <p:nvPr/>
        </p:nvSpPr>
        <p:spPr>
          <a:xfrm>
            <a:off x="685800" y="3763983"/>
            <a:ext cx="7772400" cy="10345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Encode Sans Semi Condensed Light"/>
              <a:buChar char="⊳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Encode Sans Semi Condensed Light"/>
              <a:buChar char="▸"/>
              <a:defRPr sz="2400" b="0" i="0" u="none" strike="noStrike" cap="none">
                <a:solidFill>
                  <a:schemeClr val="dk1"/>
                </a:solidFill>
                <a:latin typeface="Encode Sans Semi Condensed Light"/>
                <a:ea typeface="Encode Sans Semi Condensed Light"/>
                <a:cs typeface="Encode Sans Semi Condensed Light"/>
                <a:sym typeface="Encode Sans Semi Condensed Light"/>
              </a:defRPr>
            </a:lvl9pPr>
          </a:lstStyle>
          <a:p>
            <a:pPr marL="0" indent="0">
              <a:buFont typeface="Encode Sans Semi Condensed Light"/>
              <a:buNone/>
            </a:pPr>
            <a:r>
              <a:rPr lang="ko-KR" altLang="en-US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전체 소스 코드 다운로드 주소</a:t>
            </a:r>
            <a:endParaRPr lang="en-US" altLang="ko-KR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marL="0" indent="0">
              <a:buFont typeface="Encode Sans Semi Condensed Light"/>
              <a:buNone/>
            </a:pPr>
            <a:r>
              <a:rPr lang="en-US" altLang="ko-KR" sz="2000">
                <a:solidFill>
                  <a:schemeClr val="accent4">
                    <a:lumMod val="50000"/>
                  </a:schemeClr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  <a:hlinkClick r:id="rId3"/>
              </a:rPr>
              <a:t>https://github.com/ITVillage-Kevin/spring-reactive-02</a:t>
            </a:r>
            <a:endParaRPr lang="ko-KR" altLang="en-US" sz="2000">
              <a:solidFill>
                <a:schemeClr val="accent4">
                  <a:lumMod val="50000"/>
                </a:schemeClr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Google Shape;380;p33">
            <a:extLst>
              <a:ext uri="{FF2B5EF4-FFF2-40B4-BE49-F238E27FC236}">
                <a16:creationId xmlns:a16="http://schemas.microsoft.com/office/drawing/2014/main" id="{4277BB4C-F14B-4DAC-A9F9-09D6BF076B56}"/>
              </a:ext>
            </a:extLst>
          </p:cNvPr>
          <p:cNvSpPr txBox="1">
            <a:spLocks/>
          </p:cNvSpPr>
          <p:nvPr/>
        </p:nvSpPr>
        <p:spPr>
          <a:xfrm>
            <a:off x="0" y="475776"/>
            <a:ext cx="9144000" cy="776400"/>
          </a:xfrm>
          <a:prstGeom prst="rect">
            <a:avLst/>
          </a:prstGeom>
          <a:noFill/>
          <a:ln>
            <a:noFill/>
          </a:ln>
          <a:effectLst>
            <a:outerShdw blurRad="28575" dist="9525" dir="5400000" algn="bl" rotWithShape="0">
              <a:schemeClr val="dk1">
                <a:alpha val="15000"/>
              </a:schemeClr>
            </a:outerShdw>
          </a:effectLst>
        </p:spPr>
        <p:txBody>
          <a:bodyPr spcFirstLastPara="1" wrap="square" lIns="0" tIns="0" rIns="0" bIns="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1pPr>
            <a:lvl2pPr marR="0" lvl="1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2pPr>
            <a:lvl3pPr marR="0" lvl="2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3pPr>
            <a:lvl4pPr marR="0" lvl="3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4pPr>
            <a:lvl5pPr marR="0" lvl="4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5pPr>
            <a:lvl6pPr marR="0" lvl="5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6pPr>
            <a:lvl7pPr marR="0" lvl="6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7pPr>
            <a:lvl8pPr marR="0" lvl="7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8pPr>
            <a:lvl9pPr marR="0" lvl="8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Encode Sans Semi Condensed SemiBold"/>
              <a:buNone/>
              <a:defRPr sz="3200" b="0" i="0" u="none" strike="noStrike" cap="none">
                <a:solidFill>
                  <a:schemeClr val="lt1"/>
                </a:solidFill>
                <a:latin typeface="Encode Sans Semi Condensed SemiBold"/>
                <a:ea typeface="Encode Sans Semi Condensed SemiBold"/>
                <a:cs typeface="Encode Sans Semi Condensed SemiBold"/>
                <a:sym typeface="Encode Sans Semi Condensed SemiBold"/>
              </a:defRPr>
            </a:lvl9pPr>
          </a:lstStyle>
          <a:p>
            <a:pPr algn="ctr"/>
            <a:r>
              <a:rPr lang="ko-KR" altLang="en-US" sz="4000">
                <a:solidFill>
                  <a:schemeClr val="accent2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다음 시간 강의</a:t>
            </a:r>
            <a:endParaRPr lang="en-US" sz="4000">
              <a:solidFill>
                <a:schemeClr val="accent2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erdinand template">
  <a:themeElements>
    <a:clrScheme name="Custom 347">
      <a:dk1>
        <a:srgbClr val="343A4E"/>
      </a:dk1>
      <a:lt1>
        <a:srgbClr val="FFFFFF"/>
      </a:lt1>
      <a:dk2>
        <a:srgbClr val="707A96"/>
      </a:dk2>
      <a:lt2>
        <a:srgbClr val="EEEFF3"/>
      </a:lt2>
      <a:accent1>
        <a:srgbClr val="ACD701"/>
      </a:accent1>
      <a:accent2>
        <a:srgbClr val="69B636"/>
      </a:accent2>
      <a:accent3>
        <a:srgbClr val="32A318"/>
      </a:accent3>
      <a:accent4>
        <a:srgbClr val="9EACD1"/>
      </a:accent4>
      <a:accent5>
        <a:srgbClr val="707A96"/>
      </a:accent5>
      <a:accent6>
        <a:srgbClr val="394057"/>
      </a:accent6>
      <a:hlink>
        <a:srgbClr val="0E9900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6741</TotalTime>
  <Words>116</Words>
  <Application>Microsoft Office PowerPoint</Application>
  <PresentationFormat>화면 슬라이드 쇼(16:9)</PresentationFormat>
  <Paragraphs>15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0" baseType="lpstr">
      <vt:lpstr>나눔스퀘어라운드 ExtraBold</vt:lpstr>
      <vt:lpstr>Encode Sans Semi Condensed SemiBold</vt:lpstr>
      <vt:lpstr>Encode Sans Semi Condensed Light</vt:lpstr>
      <vt:lpstr>나눔고딕 ExtraBold</vt:lpstr>
      <vt:lpstr>Arial</vt:lpstr>
      <vt:lpstr>Ferdinand template</vt:lpstr>
      <vt:lpstr>Kevin의 알기 쉬운 </vt:lpstr>
      <vt:lpstr>collectList</vt:lpstr>
      <vt:lpstr>collectMap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Spring Reactive Web Applications</dc:title>
  <cp:lastModifiedBy>정식 황</cp:lastModifiedBy>
  <cp:revision>294</cp:revision>
  <dcterms:modified xsi:type="dcterms:W3CDTF">2023-10-30T12:13:14Z</dcterms:modified>
</cp:coreProperties>
</file>