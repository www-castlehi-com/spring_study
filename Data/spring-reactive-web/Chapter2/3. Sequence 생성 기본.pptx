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7"/>
  </p:notesMasterIdLst>
  <p:sldIdLst>
    <p:sldId id="256" r:id="rId2"/>
    <p:sldId id="318" r:id="rId3"/>
    <p:sldId id="319" r:id="rId4"/>
    <p:sldId id="320" r:id="rId5"/>
    <p:sldId id="321" r:id="rId6"/>
  </p:sldIdLst>
  <p:sldSz cx="9144000" cy="5143500" type="screen16x9"/>
  <p:notesSz cx="6858000" cy="9144000"/>
  <p:embeddedFontLst>
    <p:embeddedFont>
      <p:font typeface="나눔스퀘어라운드 ExtraBold" panose="020B0600000101010101" charset="-127"/>
      <p:bold r:id="rId8"/>
    </p:embeddedFont>
    <p:embeddedFont>
      <p:font typeface="Encode Sans Semi Condensed Light" panose="020B0600000101010101" charset="0"/>
      <p:regular r:id="rId9"/>
      <p:bold r:id="rId10"/>
    </p:embeddedFont>
    <p:embeddedFont>
      <p:font typeface="Encode Sans Semi Condensed SemiBold" panose="00000706000000000000" charset="0"/>
      <p:regular r:id="rId11"/>
      <p:bold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황 정식" initials="황정" lastIdx="1" clrIdx="0">
    <p:extLst>
      <p:ext uri="{19B8F6BF-5375-455C-9EA6-DF929625EA0E}">
        <p15:presenceInfo xmlns:p15="http://schemas.microsoft.com/office/powerpoint/2012/main" userId="황 정식" providerId="None"/>
      </p:ext>
    </p:extLst>
  </p:cmAuthor>
  <p:cmAuthor id="2" name="황정식" initials="황" lastIdx="1" clrIdx="1">
    <p:extLst>
      <p:ext uri="{19B8F6BF-5375-455C-9EA6-DF929625EA0E}">
        <p15:presenceInfo xmlns:p15="http://schemas.microsoft.com/office/powerpoint/2012/main" userId="황정식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B33F"/>
    <a:srgbClr val="6699FF"/>
    <a:srgbClr val="FF9900"/>
    <a:srgbClr val="99CCFF"/>
    <a:srgbClr val="0033CC"/>
    <a:srgbClr val="003399"/>
    <a:srgbClr val="0066FF"/>
    <a:srgbClr val="3333FF"/>
    <a:srgbClr val="6666F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733CE0-5CC8-49EC-A5A2-AC90B53F43E9}">
  <a:tblStyle styleId="{21733CE0-5CC8-49EC-A5A2-AC90B53F43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71909" autoAdjust="0"/>
  </p:normalViewPr>
  <p:slideViewPr>
    <p:cSldViewPr snapToGrid="0">
      <p:cViewPr varScale="1">
        <p:scale>
          <a:sx n="106" d="100"/>
          <a:sy n="106" d="100"/>
        </p:scale>
        <p:origin x="1626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64941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9630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1738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8997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rgbClr val="4F5876"/>
            </a:gs>
            <a:gs pos="100000">
              <a:srgbClr val="1D1F2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 rot="10800000">
            <a:off x="6904227" y="249339"/>
            <a:ext cx="2034302" cy="2271600"/>
            <a:chOff x="208025" y="2621275"/>
            <a:chExt cx="2034302" cy="2271600"/>
          </a:xfrm>
        </p:grpSpPr>
        <p:sp>
          <p:nvSpPr>
            <p:cNvPr id="11" name="Google Shape;11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208025" y="2621275"/>
            <a:ext cx="2034302" cy="2271600"/>
            <a:chOff x="208025" y="2621275"/>
            <a:chExt cx="2034302" cy="2271600"/>
          </a:xfrm>
        </p:grpSpPr>
        <p:sp>
          <p:nvSpPr>
            <p:cNvPr id="14" name="Google Shape;14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 rot="10800000" flipH="1">
            <a:off x="624300" y="1092075"/>
            <a:ext cx="7895400" cy="29592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101000" y="1738825"/>
            <a:ext cx="6942000" cy="1665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68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"/>
          <p:cNvGrpSpPr/>
          <p:nvPr/>
        </p:nvGrpSpPr>
        <p:grpSpPr>
          <a:xfrm>
            <a:off x="0" y="277661"/>
            <a:ext cx="7817376" cy="1293452"/>
            <a:chOff x="0" y="277661"/>
            <a:chExt cx="7817376" cy="1293452"/>
          </a:xfrm>
        </p:grpSpPr>
        <p:sp>
          <p:nvSpPr>
            <p:cNvPr id="39" name="Google Shape;39;p5"/>
            <p:cNvSpPr/>
            <p:nvPr/>
          </p:nvSpPr>
          <p:spPr>
            <a:xfrm rot="-5400000" flipH="1">
              <a:off x="112050" y="481364"/>
              <a:ext cx="977700" cy="1201800"/>
            </a:xfrm>
            <a:prstGeom prst="parallelogram">
              <a:avLst>
                <a:gd name="adj" fmla="val 10943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 rot="10800000">
              <a:off x="278209" y="1169850"/>
              <a:ext cx="927900" cy="2979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" name="Google Shape;41;p5"/>
            <p:cNvGrpSpPr/>
            <p:nvPr/>
          </p:nvGrpSpPr>
          <p:grpSpPr>
            <a:xfrm>
              <a:off x="284659" y="277661"/>
              <a:ext cx="7532717" cy="895903"/>
              <a:chOff x="0" y="266575"/>
              <a:chExt cx="6046490" cy="1687200"/>
            </a:xfrm>
          </p:grpSpPr>
          <p:sp>
            <p:nvSpPr>
              <p:cNvPr id="42" name="Google Shape;42;p5"/>
              <p:cNvSpPr/>
              <p:nvPr/>
            </p:nvSpPr>
            <p:spPr>
              <a:xfrm rot="10800000" flipH="1">
                <a:off x="0" y="266575"/>
                <a:ext cx="5867700" cy="16872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5"/>
              <p:cNvSpPr/>
              <p:nvPr/>
            </p:nvSpPr>
            <p:spPr>
              <a:xfrm rot="10800000">
                <a:off x="5864390" y="266658"/>
                <a:ext cx="182100" cy="1684500"/>
              </a:xfrm>
              <a:prstGeom prst="triangle">
                <a:avLst>
                  <a:gd name="adj" fmla="val 100000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" name="Google Shape;44;p5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45" name="Google Shape;45;p5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47;p5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48" name="Google Shape;48;p5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1206100" y="1706200"/>
            <a:ext cx="7026900" cy="30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⊳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2415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70125" y="1553800"/>
            <a:ext cx="6915300" cy="30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ctrTitle"/>
          </p:nvPr>
        </p:nvSpPr>
        <p:spPr>
          <a:xfrm>
            <a:off x="87405" y="0"/>
            <a:ext cx="8639735" cy="105144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Kevin</a:t>
            </a:r>
            <a:r>
              <a:rPr lang="ko-KR" altLang="en-US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알기 쉬운 </a:t>
            </a:r>
            <a:endParaRPr sz="3200">
              <a:solidFill>
                <a:schemeClr val="accent1">
                  <a:lumMod val="40000"/>
                  <a:lumOff val="60000"/>
                </a:schemeClr>
              </a:solidFill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4" name="Google Shape;126;p11">
            <a:extLst>
              <a:ext uri="{FF2B5EF4-FFF2-40B4-BE49-F238E27FC236}">
                <a16:creationId xmlns:a16="http://schemas.microsoft.com/office/drawing/2014/main" id="{7014F73D-F994-4842-AC03-FB3329414776}"/>
              </a:ext>
            </a:extLst>
          </p:cNvPr>
          <p:cNvSpPr txBox="1">
            <a:spLocks/>
          </p:cNvSpPr>
          <p:nvPr/>
        </p:nvSpPr>
        <p:spPr>
          <a:xfrm>
            <a:off x="2393157" y="4092060"/>
            <a:ext cx="6750843" cy="105144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l"/>
            <a:r>
              <a:rPr lang="en-US" sz="32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나눔스퀘어라운드 ExtraBold" panose="020B0600000101010101" charset="-127"/>
                <a:ea typeface="나눔스퀘어라운드 ExtraBold" panose="020B0600000101010101" charset="-127"/>
              </a:rPr>
              <a:t>Spring Reactive Web Applications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F15B79C-E878-4CB4-AA38-2CA58A694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268" y="114341"/>
            <a:ext cx="2919413" cy="888335"/>
          </a:xfrm>
          <a:prstGeom prst="rect">
            <a:avLst/>
          </a:prstGeom>
        </p:spPr>
      </p:pic>
      <p:pic>
        <p:nvPicPr>
          <p:cNvPr id="11" name="그림 10" descr="실내, 앉아있는, 컴퓨터, 작은이(가) 표시된 사진&#10;&#10;자동 생성된 설명">
            <a:extLst>
              <a:ext uri="{FF2B5EF4-FFF2-40B4-BE49-F238E27FC236}">
                <a16:creationId xmlns:a16="http://schemas.microsoft.com/office/drawing/2014/main" id="{41CBB6E7-9A32-4310-B735-13A43B1EB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62840"/>
            <a:ext cx="578857" cy="580660"/>
          </a:xfrm>
          <a:prstGeom prst="rect">
            <a:avLst/>
          </a:prstGeom>
        </p:spPr>
      </p:pic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B154FAC8-F82E-49B1-8799-6998C9411213}"/>
              </a:ext>
            </a:extLst>
          </p:cNvPr>
          <p:cNvSpPr txBox="1">
            <a:spLocks/>
          </p:cNvSpPr>
          <p:nvPr/>
        </p:nvSpPr>
        <p:spPr>
          <a:xfrm>
            <a:off x="665629" y="1117017"/>
            <a:ext cx="7853083" cy="2866047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r>
              <a:rPr lang="en-US" altLang="ko-KR" sz="40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Creating a new sequence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68;p16">
            <a:extLst>
              <a:ext uri="{FF2B5EF4-FFF2-40B4-BE49-F238E27FC236}">
                <a16:creationId xmlns:a16="http://schemas.microsoft.com/office/drawing/2014/main" id="{803E2E8C-C2A7-4856-B22D-CCAFC535AE8D}"/>
              </a:ext>
            </a:extLst>
          </p:cNvPr>
          <p:cNvSpPr txBox="1">
            <a:spLocks/>
          </p:cNvSpPr>
          <p:nvPr/>
        </p:nvSpPr>
        <p:spPr>
          <a:xfrm>
            <a:off x="1206100" y="1214340"/>
            <a:ext cx="7465202" cy="368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할 데이터가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null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이 아닐 경우 해당 데이터를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하는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Mono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생성한다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</a:t>
            </a:r>
            <a:endParaRPr lang="en-US" altLang="ko-KR" sz="14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8" name="Google Shape;167;p16">
            <a:extLst>
              <a:ext uri="{FF2B5EF4-FFF2-40B4-BE49-F238E27FC236}">
                <a16:creationId xmlns:a16="http://schemas.microsoft.com/office/drawing/2014/main" id="{187CB6B3-F3A7-422F-BC2F-99589F55FD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justOrEmpty</a:t>
            </a:r>
          </a:p>
        </p:txBody>
      </p:sp>
      <p:sp>
        <p:nvSpPr>
          <p:cNvPr id="7" name="Google Shape;168;p16">
            <a:extLst>
              <a:ext uri="{FF2B5EF4-FFF2-40B4-BE49-F238E27FC236}">
                <a16:creationId xmlns:a16="http://schemas.microsoft.com/office/drawing/2014/main" id="{B5326EAC-9C03-468D-905C-33A38CF5D776}"/>
              </a:ext>
            </a:extLst>
          </p:cNvPr>
          <p:cNvSpPr txBox="1">
            <a:spLocks/>
          </p:cNvSpPr>
          <p:nvPr/>
        </p:nvSpPr>
        <p:spPr>
          <a:xfrm>
            <a:off x="1206100" y="1624158"/>
            <a:ext cx="7465202" cy="368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할 데이터가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null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일 경우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onComplete signal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을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한다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</a:t>
            </a:r>
            <a:endParaRPr lang="en-US" altLang="ko-KR" sz="14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69ADE28-C835-0AA4-A05B-C36DCC6601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4093" y="2325324"/>
            <a:ext cx="4111558" cy="2619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065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68;p16">
            <a:extLst>
              <a:ext uri="{FF2B5EF4-FFF2-40B4-BE49-F238E27FC236}">
                <a16:creationId xmlns:a16="http://schemas.microsoft.com/office/drawing/2014/main" id="{803E2E8C-C2A7-4856-B22D-CCAFC535AE8D}"/>
              </a:ext>
            </a:extLst>
          </p:cNvPr>
          <p:cNvSpPr txBox="1">
            <a:spLocks/>
          </p:cNvSpPr>
          <p:nvPr/>
        </p:nvSpPr>
        <p:spPr>
          <a:xfrm>
            <a:off x="1206100" y="1214340"/>
            <a:ext cx="7465202" cy="368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Iterable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 포함된 데이터를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하는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Flux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생성한다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</a:t>
            </a:r>
            <a:endParaRPr lang="en-US" altLang="ko-KR" sz="14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8" name="Google Shape;167;p16">
            <a:extLst>
              <a:ext uri="{FF2B5EF4-FFF2-40B4-BE49-F238E27FC236}">
                <a16:creationId xmlns:a16="http://schemas.microsoft.com/office/drawing/2014/main" id="{187CB6B3-F3A7-422F-BC2F-99589F55FD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fromIterable</a:t>
            </a:r>
          </a:p>
        </p:txBody>
      </p:sp>
      <p:sp>
        <p:nvSpPr>
          <p:cNvPr id="7" name="Google Shape;168;p16">
            <a:extLst>
              <a:ext uri="{FF2B5EF4-FFF2-40B4-BE49-F238E27FC236}">
                <a16:creationId xmlns:a16="http://schemas.microsoft.com/office/drawing/2014/main" id="{B5326EAC-9C03-468D-905C-33A38CF5D776}"/>
              </a:ext>
            </a:extLst>
          </p:cNvPr>
          <p:cNvSpPr txBox="1">
            <a:spLocks/>
          </p:cNvSpPr>
          <p:nvPr/>
        </p:nvSpPr>
        <p:spPr>
          <a:xfrm>
            <a:off x="1206100" y="1624157"/>
            <a:ext cx="7465202" cy="598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즉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, Java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에서 제공하는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Iterable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을 상속한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Collection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구현 객체를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fromIterable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파라미터로 받는다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pic>
        <p:nvPicPr>
          <p:cNvPr id="5" name="그림 4" descr="텍스트, 시계이(가) 표시된 사진&#10;&#10;자동 생성된 설명">
            <a:extLst>
              <a:ext uri="{FF2B5EF4-FFF2-40B4-BE49-F238E27FC236}">
                <a16:creationId xmlns:a16="http://schemas.microsoft.com/office/drawing/2014/main" id="{0D186312-BE78-8A79-034B-087CFBD9F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8698" y="2726590"/>
            <a:ext cx="4163438" cy="194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717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68;p16">
            <a:extLst>
              <a:ext uri="{FF2B5EF4-FFF2-40B4-BE49-F238E27FC236}">
                <a16:creationId xmlns:a16="http://schemas.microsoft.com/office/drawing/2014/main" id="{803E2E8C-C2A7-4856-B22D-CCAFC535AE8D}"/>
              </a:ext>
            </a:extLst>
          </p:cNvPr>
          <p:cNvSpPr txBox="1">
            <a:spLocks/>
          </p:cNvSpPr>
          <p:nvPr/>
        </p:nvSpPr>
        <p:spPr>
          <a:xfrm>
            <a:off x="1206100" y="1214340"/>
            <a:ext cx="7465202" cy="368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Stream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 포함된 데이터를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하는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Flux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생성한다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</a:t>
            </a:r>
            <a:endParaRPr lang="en-US" altLang="ko-KR" sz="14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8" name="Google Shape;167;p16">
            <a:extLst>
              <a:ext uri="{FF2B5EF4-FFF2-40B4-BE49-F238E27FC236}">
                <a16:creationId xmlns:a16="http://schemas.microsoft.com/office/drawing/2014/main" id="{187CB6B3-F3A7-422F-BC2F-99589F55FD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fromStream</a:t>
            </a:r>
          </a:p>
        </p:txBody>
      </p:sp>
      <p:sp>
        <p:nvSpPr>
          <p:cNvPr id="7" name="Google Shape;168;p16">
            <a:extLst>
              <a:ext uri="{FF2B5EF4-FFF2-40B4-BE49-F238E27FC236}">
                <a16:creationId xmlns:a16="http://schemas.microsoft.com/office/drawing/2014/main" id="{B5326EAC-9C03-468D-905C-33A38CF5D776}"/>
              </a:ext>
            </a:extLst>
          </p:cNvPr>
          <p:cNvSpPr txBox="1">
            <a:spLocks/>
          </p:cNvSpPr>
          <p:nvPr/>
        </p:nvSpPr>
        <p:spPr>
          <a:xfrm>
            <a:off x="1206100" y="1624157"/>
            <a:ext cx="7465202" cy="598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Stream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은 재사용 할 수 없으며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cancel, error, complete 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시에 자동으로 닫힌다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pic>
        <p:nvPicPr>
          <p:cNvPr id="5" name="그림 4" descr="텍스트, 시계이(가) 표시된 사진&#10;&#10;자동 생성된 설명">
            <a:extLst>
              <a:ext uri="{FF2B5EF4-FFF2-40B4-BE49-F238E27FC236}">
                <a16:creationId xmlns:a16="http://schemas.microsoft.com/office/drawing/2014/main" id="{9CA96EC3-2A15-362E-F3E8-2837909268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162" y="2650607"/>
            <a:ext cx="4059676" cy="1898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383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68;p16">
            <a:extLst>
              <a:ext uri="{FF2B5EF4-FFF2-40B4-BE49-F238E27FC236}">
                <a16:creationId xmlns:a16="http://schemas.microsoft.com/office/drawing/2014/main" id="{803E2E8C-C2A7-4856-B22D-CCAFC535AE8D}"/>
              </a:ext>
            </a:extLst>
          </p:cNvPr>
          <p:cNvSpPr txBox="1">
            <a:spLocks/>
          </p:cNvSpPr>
          <p:nvPr/>
        </p:nvSpPr>
        <p:spPr>
          <a:xfrm>
            <a:off x="1206100" y="1214340"/>
            <a:ext cx="7465202" cy="368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n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부터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1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씩 증가한 연속된 수를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m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개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하는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Flux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생성한다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</a:t>
            </a:r>
            <a:endParaRPr lang="en-US" altLang="ko-KR" sz="14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8" name="Google Shape;167;p16">
            <a:extLst>
              <a:ext uri="{FF2B5EF4-FFF2-40B4-BE49-F238E27FC236}">
                <a16:creationId xmlns:a16="http://schemas.microsoft.com/office/drawing/2014/main" id="{187CB6B3-F3A7-422F-BC2F-99589F55FD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range</a:t>
            </a:r>
          </a:p>
        </p:txBody>
      </p:sp>
      <p:sp>
        <p:nvSpPr>
          <p:cNvPr id="7" name="Google Shape;168;p16">
            <a:extLst>
              <a:ext uri="{FF2B5EF4-FFF2-40B4-BE49-F238E27FC236}">
                <a16:creationId xmlns:a16="http://schemas.microsoft.com/office/drawing/2014/main" id="{B5326EAC-9C03-468D-905C-33A38CF5D776}"/>
              </a:ext>
            </a:extLst>
          </p:cNvPr>
          <p:cNvSpPr txBox="1">
            <a:spLocks/>
          </p:cNvSpPr>
          <p:nvPr/>
        </p:nvSpPr>
        <p:spPr>
          <a:xfrm>
            <a:off x="1206100" y="1624157"/>
            <a:ext cx="7465202" cy="598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명령형 언어의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for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문처럼 특정 횟수만큼 어떤 작업을 처리하고자 할 경우에 주로 사용된다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826DFFC-FEA4-245A-7A03-6BE8118CE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271" y="2786565"/>
            <a:ext cx="4591458" cy="181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815980"/>
      </p:ext>
    </p:extLst>
  </p:cSld>
  <p:clrMapOvr>
    <a:masterClrMapping/>
  </p:clrMapOvr>
</p:sld>
</file>

<file path=ppt/theme/theme1.xml><?xml version="1.0" encoding="utf-8"?>
<a:theme xmlns:a="http://schemas.openxmlformats.org/drawingml/2006/main" name="Ferdinand template">
  <a:themeElements>
    <a:clrScheme name="Custom 347">
      <a:dk1>
        <a:srgbClr val="343A4E"/>
      </a:dk1>
      <a:lt1>
        <a:srgbClr val="FFFFFF"/>
      </a:lt1>
      <a:dk2>
        <a:srgbClr val="707A96"/>
      </a:dk2>
      <a:lt2>
        <a:srgbClr val="EEEFF3"/>
      </a:lt2>
      <a:accent1>
        <a:srgbClr val="ACD701"/>
      </a:accent1>
      <a:accent2>
        <a:srgbClr val="69B636"/>
      </a:accent2>
      <a:accent3>
        <a:srgbClr val="32A318"/>
      </a:accent3>
      <a:accent4>
        <a:srgbClr val="9EACD1"/>
      </a:accent4>
      <a:accent5>
        <a:srgbClr val="707A96"/>
      </a:accent5>
      <a:accent6>
        <a:srgbClr val="394057"/>
      </a:accent6>
      <a:hlink>
        <a:srgbClr val="0E99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7190</TotalTime>
  <Words>125</Words>
  <Application>Microsoft Office PowerPoint</Application>
  <PresentationFormat>화면 슬라이드 쇼(16:9)</PresentationFormat>
  <Paragraphs>15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Encode Sans Semi Condensed Light</vt:lpstr>
      <vt:lpstr>Arial</vt:lpstr>
      <vt:lpstr>나눔스퀘어라운드 ExtraBold</vt:lpstr>
      <vt:lpstr>Encode Sans Semi Condensed SemiBold</vt:lpstr>
      <vt:lpstr>Ferdinand template</vt:lpstr>
      <vt:lpstr>Kevin의 알기 쉬운 </vt:lpstr>
      <vt:lpstr>justOrEmpty</vt:lpstr>
      <vt:lpstr>fromIterable</vt:lpstr>
      <vt:lpstr>fromStream</vt:lpstr>
      <vt:lpstr>range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Reactive Web Applications</dc:title>
  <cp:lastModifiedBy>황 정식</cp:lastModifiedBy>
  <cp:revision>285</cp:revision>
  <dcterms:modified xsi:type="dcterms:W3CDTF">2023-07-03T09:27:25Z</dcterms:modified>
</cp:coreProperties>
</file>